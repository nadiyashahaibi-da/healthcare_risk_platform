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6" Type="http://schemas.openxmlformats.org/officeDocument/2006/relationships/slide" Target="slides/slide10.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fb8e5cf19f_3_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g3fb8e5cf19f_3_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Title. Introduce yourself and the project in one breath: a healthcare analytics capstone spanning the full pipeline, from raw data to a live prediction tool.</a:t>
            </a:r>
            <a:endParaRPr/>
          </a:p>
        </p:txBody>
      </p:sp>
      <p:sp>
        <p:nvSpPr>
          <p:cNvPr id="56" name="Google Shape;56;g3fb8e5cf19f_3_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b8e5cf19f_3_2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g3fb8e5cf19f_3_2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The Problem. Frame it as a business problem before a data problem — readmissions cost hospitals money and signal missed risk. State the three questions.</a:t>
            </a:r>
            <a:endParaRPr/>
          </a:p>
        </p:txBody>
      </p:sp>
      <p:sp>
        <p:nvSpPr>
          <p:cNvPr id="78" name="Google Shape;78;g3fb8e5cf19f_3_2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fb8e5cf19f_3_5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g3fb8e5cf19f_3_5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Data &amp; Approach. Name both data sources and the full tool stack once, cleanly — this is where you check off Python/SQL/EDA/ML/Streamlit/Tableau without reading a list.</a:t>
            </a:r>
            <a:endParaRPr/>
          </a:p>
        </p:txBody>
      </p:sp>
      <p:sp>
        <p:nvSpPr>
          <p:cNvPr id="104" name="Google Shape;104;g3fb8e5cf19f_3_5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fb8e5cf19f_3_10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g3fb8e5cf19f_3_10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Executive Overview. Anchor the room with the four headline numbers before diving into any one slice.</a:t>
            </a:r>
            <a:endParaRPr/>
          </a:p>
        </p:txBody>
      </p:sp>
      <p:sp>
        <p:nvSpPr>
          <p:cNvPr id="163" name="Google Shape;163;g3fb8e5cf19f_3_10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fb8e5cf19f_3_135: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0" name="Google Shape;190;g3fb8e5cf19f_3_135: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Q1. Walk the two charts left to right. Flag the small sample size for &lt;30 honestly — this builds credibility.</a:t>
            </a:r>
            <a:endParaRPr/>
          </a:p>
        </p:txBody>
      </p:sp>
      <p:sp>
        <p:nvSpPr>
          <p:cNvPr id="191" name="Google Shape;191;g3fb8e5cf19f_3_135: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fb8e5cf19f_3_1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9" name="Google Shape;209;g3fb8e5cf19f_3_1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Q2. Point out the top of each list, then the honest exclusion of unmapped diagnoses — shows rigor.</a:t>
            </a:r>
            <a:endParaRPr/>
          </a:p>
        </p:txBody>
      </p:sp>
      <p:sp>
        <p:nvSpPr>
          <p:cNvPr id="210" name="Google Shape;210;g3fb8e5cf19f_3_1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b8e5cf19f_3_23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g3fb8e5cf19f_3_23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Q3. Lead with the caveat before the chart, not after — OpenFDA is independent of the patient data.</a:t>
            </a:r>
            <a:endParaRPr/>
          </a:p>
        </p:txBody>
      </p:sp>
      <p:sp>
        <p:nvSpPr>
          <p:cNvPr id="291" name="Google Shape;291;g3fb8e5cf19f_3_23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fb8e5cf19f_3_321: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g3fb8e5cf19f_3_321: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Q4. This is the technical center of gravity — spend a bit more time here. Explain the recall-over-accuracy choice in plain business terms.</a:t>
            </a:r>
            <a:endParaRPr/>
          </a:p>
        </p:txBody>
      </p:sp>
      <p:sp>
        <p:nvSpPr>
          <p:cNvPr id="380" name="Google Shape;380;g3fb8e5cf19f_3_321: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fb8e5cf19f_3_33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7" name="Google Shape;397;g3fb8e5cf19f_3_33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Live Demo. If presenting live, switch to the running app here instead of the screenshots. Otherwise narrate the two screens.</a:t>
            </a:r>
            <a:endParaRPr/>
          </a:p>
        </p:txBody>
      </p:sp>
      <p:sp>
        <p:nvSpPr>
          <p:cNvPr id="398" name="Google Shape;398;g3fb8e5cf19f_3_33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b8e5cf19f_3_35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g3fb8e5cf19f_3_35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Close. Deliver limitations with confidence, not apology — then invite questions.</a:t>
            </a:r>
            <a:endParaRPr/>
          </a:p>
        </p:txBody>
      </p:sp>
      <p:sp>
        <p:nvSpPr>
          <p:cNvPr id="414" name="Google Shape;414;g3fb8e5cf19f_3_35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GHT">
  <p:cSld name="LIGHT">
    <p:bg>
      <p:bgPr>
        <a:solidFill>
          <a:srgbClr val="FFFFFF"/>
        </a:solidFill>
      </p:bgPr>
    </p:bg>
    <p:spTree>
      <p:nvGrpSpPr>
        <p:cNvPr id="52" name="Shape 5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A45"/>
        </a:solidFill>
      </p:bgPr>
    </p:bg>
    <p:spTree>
      <p:nvGrpSpPr>
        <p:cNvPr id="57" name="Shape 57"/>
        <p:cNvGrpSpPr/>
        <p:nvPr/>
      </p:nvGrpSpPr>
      <p:grpSpPr>
        <a:xfrm>
          <a:off x="0" y="0"/>
          <a:ext cx="0" cy="0"/>
          <a:chOff x="0" y="0"/>
          <a:chExt cx="0" cy="0"/>
        </a:xfrm>
      </p:grpSpPr>
      <p:sp>
        <p:nvSpPr>
          <p:cNvPr id="58" name="Google Shape;58;p16"/>
          <p:cNvSpPr/>
          <p:nvPr/>
        </p:nvSpPr>
        <p:spPr>
          <a:xfrm>
            <a:off x="5897880" y="0"/>
            <a:ext cx="3245891" cy="5143500"/>
          </a:xfrm>
          <a:prstGeom prst="rect">
            <a:avLst/>
          </a:prstGeom>
          <a:solidFill>
            <a:srgbClr val="0C1E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9" name="Google Shape;59;p16"/>
          <p:cNvSpPr/>
          <p:nvPr/>
        </p:nvSpPr>
        <p:spPr>
          <a:xfrm>
            <a:off x="617220" y="514350"/>
            <a:ext cx="582930" cy="582930"/>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0" name="Google Shape;60;p16"/>
          <p:cNvSpPr/>
          <p:nvPr/>
        </p:nvSpPr>
        <p:spPr>
          <a:xfrm>
            <a:off x="617220" y="514350"/>
            <a:ext cx="582930" cy="58293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600"/>
              <a:buFont typeface="Calibri"/>
              <a:buNone/>
            </a:pPr>
            <a:r>
              <a:rPr b="1" i="0" lang="en" sz="2600" u="none" cap="none" strike="noStrike">
                <a:solidFill>
                  <a:srgbClr val="FFFFFF"/>
                </a:solidFill>
                <a:latin typeface="Calibri"/>
                <a:ea typeface="Calibri"/>
                <a:cs typeface="Calibri"/>
                <a:sym typeface="Calibri"/>
              </a:rPr>
              <a:t>🏥</a:t>
            </a:r>
            <a:endParaRPr b="0" i="0" sz="2600" u="none" cap="none" strike="noStrike">
              <a:solidFill>
                <a:schemeClr val="dk1"/>
              </a:solidFill>
              <a:latin typeface="Calibri"/>
              <a:ea typeface="Calibri"/>
              <a:cs typeface="Calibri"/>
              <a:sym typeface="Calibri"/>
            </a:endParaRPr>
          </a:p>
        </p:txBody>
      </p:sp>
      <p:sp>
        <p:nvSpPr>
          <p:cNvPr id="61" name="Google Shape;61;p16"/>
          <p:cNvSpPr/>
          <p:nvPr/>
        </p:nvSpPr>
        <p:spPr>
          <a:xfrm>
            <a:off x="617220" y="1748790"/>
            <a:ext cx="651510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7FA8DE"/>
              </a:buClr>
              <a:buSzPts val="1100"/>
              <a:buFont typeface="Calibri"/>
              <a:buNone/>
            </a:pPr>
            <a:r>
              <a:rPr b="1" i="0" lang="en" sz="1100" u="none" cap="none" strike="noStrike">
                <a:solidFill>
                  <a:srgbClr val="7FA8DE"/>
                </a:solidFill>
                <a:latin typeface="Calibri"/>
                <a:ea typeface="Calibri"/>
                <a:cs typeface="Calibri"/>
                <a:sym typeface="Calibri"/>
              </a:rPr>
              <a:t>HEALTHCARE DATA ANALYTICS</a:t>
            </a:r>
            <a:endParaRPr b="0" i="0" sz="1100" u="none" cap="none" strike="noStrike">
              <a:solidFill>
                <a:schemeClr val="dk1"/>
              </a:solidFill>
              <a:latin typeface="Calibri"/>
              <a:ea typeface="Calibri"/>
              <a:cs typeface="Calibri"/>
              <a:sym typeface="Calibri"/>
            </a:endParaRPr>
          </a:p>
        </p:txBody>
      </p:sp>
      <p:sp>
        <p:nvSpPr>
          <p:cNvPr id="62" name="Google Shape;62;p16"/>
          <p:cNvSpPr/>
          <p:nvPr/>
        </p:nvSpPr>
        <p:spPr>
          <a:xfrm>
            <a:off x="617220" y="2023110"/>
            <a:ext cx="5692140" cy="130302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FFFFFF"/>
              </a:buClr>
              <a:buSzPts val="2600"/>
              <a:buFont typeface="Cambria"/>
              <a:buNone/>
            </a:pPr>
            <a:r>
              <a:rPr b="1" i="0" lang="en" sz="2600" u="none" cap="none" strike="noStrike">
                <a:solidFill>
                  <a:srgbClr val="FFFFFF"/>
                </a:solidFill>
                <a:latin typeface="Cambria"/>
                <a:ea typeface="Cambria"/>
                <a:cs typeface="Cambria"/>
                <a:sym typeface="Cambria"/>
              </a:rPr>
              <a:t>Healthcare Prescription Safety &amp;</a:t>
            </a:r>
            <a:endParaRPr b="0" i="0" sz="2600" u="none" cap="none" strike="noStrike">
              <a:solidFill>
                <a:schemeClr val="dk1"/>
              </a:solidFill>
              <a:latin typeface="Calibri"/>
              <a:ea typeface="Calibri"/>
              <a:cs typeface="Calibri"/>
              <a:sym typeface="Calibri"/>
            </a:endParaRPr>
          </a:p>
          <a:p>
            <a:pPr indent="0" lvl="0" marL="0" marR="0" rtl="0" algn="l">
              <a:lnSpc>
                <a:spcPct val="110000"/>
              </a:lnSpc>
              <a:spcBef>
                <a:spcPts val="0"/>
              </a:spcBef>
              <a:spcAft>
                <a:spcPts val="0"/>
              </a:spcAft>
              <a:buClr>
                <a:srgbClr val="FFFFFF"/>
              </a:buClr>
              <a:buSzPts val="2600"/>
              <a:buFont typeface="Cambria"/>
              <a:buNone/>
            </a:pPr>
            <a:r>
              <a:rPr b="1" i="0" lang="en" sz="2600" u="none" cap="none" strike="noStrike">
                <a:solidFill>
                  <a:srgbClr val="FFFFFF"/>
                </a:solidFill>
                <a:latin typeface="Cambria"/>
                <a:ea typeface="Cambria"/>
                <a:cs typeface="Cambria"/>
                <a:sym typeface="Cambria"/>
              </a:rPr>
              <a:t>Patient Risk Intelligence Platform</a:t>
            </a:r>
            <a:endParaRPr b="0" i="0" sz="2600" u="none" cap="none" strike="noStrike">
              <a:solidFill>
                <a:schemeClr val="dk1"/>
              </a:solidFill>
              <a:latin typeface="Calibri"/>
              <a:ea typeface="Calibri"/>
              <a:cs typeface="Calibri"/>
              <a:sym typeface="Calibri"/>
            </a:endParaRPr>
          </a:p>
        </p:txBody>
      </p:sp>
      <p:sp>
        <p:nvSpPr>
          <p:cNvPr id="63" name="Google Shape;63;p16"/>
          <p:cNvSpPr/>
          <p:nvPr/>
        </p:nvSpPr>
        <p:spPr>
          <a:xfrm>
            <a:off x="617220" y="3326130"/>
            <a:ext cx="5692140" cy="5486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C9D9EE"/>
              </a:buClr>
              <a:buSzPts val="1100"/>
              <a:buFont typeface="Calibri"/>
              <a:buNone/>
            </a:pPr>
            <a:r>
              <a:rPr b="0" i="1" lang="en" sz="1100" u="none" cap="none" strike="noStrike">
                <a:solidFill>
                  <a:srgbClr val="C9D9EE"/>
                </a:solidFill>
                <a:latin typeface="Calibri"/>
                <a:ea typeface="Calibri"/>
                <a:cs typeface="Calibri"/>
                <a:sym typeface="Calibri"/>
              </a:rPr>
              <a:t>Identifying high-risk patients, understanding readmission drivers, and testing whether readmission risk can be predicted from admission data.</a:t>
            </a:r>
            <a:endParaRPr b="0" i="0" sz="1100" u="none" cap="none" strike="noStrike">
              <a:solidFill>
                <a:schemeClr val="dk1"/>
              </a:solidFill>
              <a:latin typeface="Calibri"/>
              <a:ea typeface="Calibri"/>
              <a:cs typeface="Calibri"/>
              <a:sym typeface="Calibri"/>
            </a:endParaRPr>
          </a:p>
        </p:txBody>
      </p:sp>
      <p:cxnSp>
        <p:nvCxnSpPr>
          <p:cNvPr id="64" name="Google Shape;64;p16"/>
          <p:cNvCxnSpPr/>
          <p:nvPr/>
        </p:nvCxnSpPr>
        <p:spPr>
          <a:xfrm>
            <a:off x="617220" y="4046220"/>
            <a:ext cx="960120" cy="0"/>
          </a:xfrm>
          <a:prstGeom prst="straightConnector1">
            <a:avLst/>
          </a:prstGeom>
          <a:noFill/>
          <a:ln cap="flat" cmpd="sng" w="25400">
            <a:solidFill>
              <a:srgbClr val="2A78D6"/>
            </a:solidFill>
            <a:prstDash val="solid"/>
            <a:round/>
            <a:headEnd len="sm" w="sm" type="none"/>
            <a:tailEnd len="sm" w="sm" type="none"/>
          </a:ln>
        </p:spPr>
      </p:cxnSp>
      <p:sp>
        <p:nvSpPr>
          <p:cNvPr id="65" name="Google Shape;65;p16"/>
          <p:cNvSpPr/>
          <p:nvPr/>
        </p:nvSpPr>
        <p:spPr>
          <a:xfrm>
            <a:off x="617220" y="414909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100"/>
              <a:buFont typeface="Calibri"/>
              <a:buNone/>
            </a:pPr>
            <a:r>
              <a:rPr b="1" i="0" lang="en" sz="1100" u="none" cap="none" strike="noStrike">
                <a:solidFill>
                  <a:srgbClr val="FFFFFF"/>
                </a:solidFill>
                <a:latin typeface="Calibri"/>
                <a:ea typeface="Calibri"/>
                <a:cs typeface="Calibri"/>
                <a:sym typeface="Calibri"/>
              </a:rPr>
              <a:t>Nadiya</a:t>
            </a:r>
            <a:endParaRPr b="0" i="0" sz="1100" u="none" cap="none" strike="noStrike">
              <a:solidFill>
                <a:schemeClr val="dk1"/>
              </a:solidFill>
              <a:latin typeface="Calibri"/>
              <a:ea typeface="Calibri"/>
              <a:cs typeface="Calibri"/>
              <a:sym typeface="Calibri"/>
            </a:endParaRPr>
          </a:p>
        </p:txBody>
      </p:sp>
      <p:sp>
        <p:nvSpPr>
          <p:cNvPr id="66" name="Google Shape;66;p16"/>
          <p:cNvSpPr/>
          <p:nvPr/>
        </p:nvSpPr>
        <p:spPr>
          <a:xfrm>
            <a:off x="617220" y="4389120"/>
            <a:ext cx="48006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FB4D0"/>
              </a:buClr>
              <a:buSzPts val="900"/>
              <a:buFont typeface="Calibri"/>
              <a:buNone/>
            </a:pPr>
            <a:r>
              <a:rPr b="0" i="0" lang="en" sz="900" u="none" cap="none" strike="noStrike">
                <a:solidFill>
                  <a:srgbClr val="9FB4D0"/>
                </a:solidFill>
                <a:latin typeface="Calibri"/>
                <a:ea typeface="Calibri"/>
                <a:cs typeface="Calibri"/>
                <a:sym typeface="Calibri"/>
              </a:rPr>
              <a:t>Ironhack Data Analytics Bootcamp — Final  Project</a:t>
            </a:r>
            <a:endParaRPr b="0" i="0" sz="900" u="none" cap="none" strike="noStrike">
              <a:solidFill>
                <a:schemeClr val="dk1"/>
              </a:solidFill>
              <a:latin typeface="Calibri"/>
              <a:ea typeface="Calibri"/>
              <a:cs typeface="Calibri"/>
              <a:sym typeface="Calibri"/>
            </a:endParaRPr>
          </a:p>
        </p:txBody>
      </p:sp>
      <p:sp>
        <p:nvSpPr>
          <p:cNvPr id="67" name="Google Shape;67;p16"/>
          <p:cNvSpPr/>
          <p:nvPr/>
        </p:nvSpPr>
        <p:spPr>
          <a:xfrm>
            <a:off x="6515100" y="1748790"/>
            <a:ext cx="219456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2000"/>
              <a:buFont typeface="Cambria"/>
              <a:buNone/>
            </a:pPr>
            <a:r>
              <a:rPr b="1" i="0" lang="en" sz="2000" u="none" cap="none" strike="noStrike">
                <a:solidFill>
                  <a:srgbClr val="2A78D6"/>
                </a:solidFill>
                <a:latin typeface="Cambria"/>
                <a:ea typeface="Cambria"/>
                <a:cs typeface="Cambria"/>
                <a:sym typeface="Cambria"/>
              </a:rPr>
              <a:t>100</a:t>
            </a:r>
            <a:endParaRPr b="0" i="0" sz="2000" u="none" cap="none" strike="noStrike">
              <a:solidFill>
                <a:schemeClr val="dk1"/>
              </a:solidFill>
              <a:latin typeface="Calibri"/>
              <a:ea typeface="Calibri"/>
              <a:cs typeface="Calibri"/>
              <a:sym typeface="Calibri"/>
            </a:endParaRPr>
          </a:p>
        </p:txBody>
      </p:sp>
      <p:sp>
        <p:nvSpPr>
          <p:cNvPr id="68" name="Google Shape;68;p16"/>
          <p:cNvSpPr/>
          <p:nvPr/>
        </p:nvSpPr>
        <p:spPr>
          <a:xfrm>
            <a:off x="6515100" y="2112264"/>
            <a:ext cx="219456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FB4D0"/>
              </a:buClr>
              <a:buSzPts val="800"/>
              <a:buFont typeface="Calibri"/>
              <a:buNone/>
            </a:pPr>
            <a:r>
              <a:rPr b="0" i="0" lang="en" sz="800" u="none" cap="none" strike="noStrike">
                <a:solidFill>
                  <a:srgbClr val="9FB4D0"/>
                </a:solidFill>
                <a:latin typeface="Calibri"/>
                <a:ea typeface="Calibri"/>
                <a:cs typeface="Calibri"/>
                <a:sym typeface="Calibri"/>
              </a:rPr>
              <a:t>PATIENTS</a:t>
            </a:r>
            <a:endParaRPr b="0" i="0" sz="800" u="none" cap="none" strike="noStrike">
              <a:solidFill>
                <a:schemeClr val="dk1"/>
              </a:solidFill>
              <a:latin typeface="Calibri"/>
              <a:ea typeface="Calibri"/>
              <a:cs typeface="Calibri"/>
              <a:sym typeface="Calibri"/>
            </a:endParaRPr>
          </a:p>
        </p:txBody>
      </p:sp>
      <p:sp>
        <p:nvSpPr>
          <p:cNvPr id="69" name="Google Shape;69;p16"/>
          <p:cNvSpPr/>
          <p:nvPr/>
        </p:nvSpPr>
        <p:spPr>
          <a:xfrm>
            <a:off x="6515100" y="2489454"/>
            <a:ext cx="219456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2000"/>
              <a:buFont typeface="Cambria"/>
              <a:buNone/>
            </a:pPr>
            <a:r>
              <a:rPr b="1" i="0" lang="en" sz="2000" u="none" cap="none" strike="noStrike">
                <a:solidFill>
                  <a:srgbClr val="2A78D6"/>
                </a:solidFill>
                <a:latin typeface="Cambria"/>
                <a:ea typeface="Cambria"/>
                <a:cs typeface="Cambria"/>
                <a:sym typeface="Cambria"/>
              </a:rPr>
              <a:t>275</a:t>
            </a:r>
            <a:endParaRPr b="0" i="0" sz="2000" u="none" cap="none" strike="noStrike">
              <a:solidFill>
                <a:schemeClr val="dk1"/>
              </a:solidFill>
              <a:latin typeface="Calibri"/>
              <a:ea typeface="Calibri"/>
              <a:cs typeface="Calibri"/>
              <a:sym typeface="Calibri"/>
            </a:endParaRPr>
          </a:p>
        </p:txBody>
      </p:sp>
      <p:sp>
        <p:nvSpPr>
          <p:cNvPr id="70" name="Google Shape;70;p16"/>
          <p:cNvSpPr/>
          <p:nvPr/>
        </p:nvSpPr>
        <p:spPr>
          <a:xfrm>
            <a:off x="6515100" y="2852928"/>
            <a:ext cx="219456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FB4D0"/>
              </a:buClr>
              <a:buSzPts val="800"/>
              <a:buFont typeface="Calibri"/>
              <a:buNone/>
            </a:pPr>
            <a:r>
              <a:rPr b="0" i="0" lang="en" sz="800" u="none" cap="none" strike="noStrike">
                <a:solidFill>
                  <a:srgbClr val="9FB4D0"/>
                </a:solidFill>
                <a:latin typeface="Calibri"/>
                <a:ea typeface="Calibri"/>
                <a:cs typeface="Calibri"/>
                <a:sym typeface="Calibri"/>
              </a:rPr>
              <a:t>ADMISSIONS</a:t>
            </a:r>
            <a:endParaRPr b="0" i="0" sz="800" u="none" cap="none" strike="noStrike">
              <a:solidFill>
                <a:schemeClr val="dk1"/>
              </a:solidFill>
              <a:latin typeface="Calibri"/>
              <a:ea typeface="Calibri"/>
              <a:cs typeface="Calibri"/>
              <a:sym typeface="Calibri"/>
            </a:endParaRPr>
          </a:p>
        </p:txBody>
      </p:sp>
      <p:sp>
        <p:nvSpPr>
          <p:cNvPr id="71" name="Google Shape;71;p16"/>
          <p:cNvSpPr/>
          <p:nvPr/>
        </p:nvSpPr>
        <p:spPr>
          <a:xfrm>
            <a:off x="6515100" y="3230118"/>
            <a:ext cx="219456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2000"/>
              <a:buFont typeface="Cambria"/>
              <a:buNone/>
            </a:pPr>
            <a:r>
              <a:rPr b="1" i="0" lang="en" sz="2000" u="none" cap="none" strike="noStrike">
                <a:solidFill>
                  <a:srgbClr val="2A78D6"/>
                </a:solidFill>
                <a:latin typeface="Cambria"/>
                <a:ea typeface="Cambria"/>
                <a:cs typeface="Cambria"/>
                <a:sym typeface="Cambria"/>
              </a:rPr>
              <a:t>19.3%</a:t>
            </a:r>
            <a:endParaRPr b="0" i="0" sz="2000" u="none" cap="none" strike="noStrike">
              <a:solidFill>
                <a:schemeClr val="dk1"/>
              </a:solidFill>
              <a:latin typeface="Calibri"/>
              <a:ea typeface="Calibri"/>
              <a:cs typeface="Calibri"/>
              <a:sym typeface="Calibri"/>
            </a:endParaRPr>
          </a:p>
        </p:txBody>
      </p:sp>
      <p:sp>
        <p:nvSpPr>
          <p:cNvPr id="72" name="Google Shape;72;p16"/>
          <p:cNvSpPr/>
          <p:nvPr/>
        </p:nvSpPr>
        <p:spPr>
          <a:xfrm>
            <a:off x="6515100" y="3593592"/>
            <a:ext cx="219456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FB4D0"/>
              </a:buClr>
              <a:buSzPts val="800"/>
              <a:buFont typeface="Calibri"/>
              <a:buNone/>
            </a:pPr>
            <a:r>
              <a:rPr b="0" i="0" lang="en" sz="800" u="none" cap="none" strike="noStrike">
                <a:solidFill>
                  <a:srgbClr val="9FB4D0"/>
                </a:solidFill>
                <a:latin typeface="Calibri"/>
                <a:ea typeface="Calibri"/>
                <a:cs typeface="Calibri"/>
                <a:sym typeface="Calibri"/>
              </a:rPr>
              <a:t>READMIT RATE</a:t>
            </a:r>
            <a:endParaRPr b="0" i="0" sz="800" u="none" cap="none" strike="noStrike">
              <a:solidFill>
                <a:schemeClr val="dk1"/>
              </a:solidFill>
              <a:latin typeface="Calibri"/>
              <a:ea typeface="Calibri"/>
              <a:cs typeface="Calibri"/>
              <a:sym typeface="Calibri"/>
            </a:endParaRPr>
          </a:p>
        </p:txBody>
      </p:sp>
      <p:sp>
        <p:nvSpPr>
          <p:cNvPr id="73" name="Google Shape;73;p16"/>
          <p:cNvSpPr/>
          <p:nvPr/>
        </p:nvSpPr>
        <p:spPr>
          <a:xfrm>
            <a:off x="6515100" y="3970782"/>
            <a:ext cx="219456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2000"/>
              <a:buFont typeface="Cambria"/>
              <a:buNone/>
            </a:pPr>
            <a:r>
              <a:rPr b="1" i="0" lang="en" sz="2000" u="none" cap="none" strike="noStrike">
                <a:solidFill>
                  <a:srgbClr val="2A78D6"/>
                </a:solidFill>
                <a:latin typeface="Cambria"/>
                <a:ea typeface="Cambria"/>
                <a:cs typeface="Cambria"/>
                <a:sym typeface="Cambria"/>
              </a:rPr>
              <a:t>35%</a:t>
            </a:r>
            <a:endParaRPr b="0" i="0" sz="2000" u="none" cap="none" strike="noStrike">
              <a:solidFill>
                <a:schemeClr val="dk1"/>
              </a:solidFill>
              <a:latin typeface="Calibri"/>
              <a:ea typeface="Calibri"/>
              <a:cs typeface="Calibri"/>
              <a:sym typeface="Calibri"/>
            </a:endParaRPr>
          </a:p>
        </p:txBody>
      </p:sp>
      <p:sp>
        <p:nvSpPr>
          <p:cNvPr id="74" name="Google Shape;74;p16"/>
          <p:cNvSpPr/>
          <p:nvPr/>
        </p:nvSpPr>
        <p:spPr>
          <a:xfrm>
            <a:off x="6515100" y="4334256"/>
            <a:ext cx="219456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9FB4D0"/>
              </a:buClr>
              <a:buSzPts val="800"/>
              <a:buFont typeface="Calibri"/>
              <a:buNone/>
            </a:pPr>
            <a:r>
              <a:rPr b="0" i="0" lang="en" sz="800" u="none" cap="none" strike="noStrike">
                <a:solidFill>
                  <a:srgbClr val="9FB4D0"/>
                </a:solidFill>
                <a:latin typeface="Calibri"/>
                <a:ea typeface="Calibri"/>
                <a:cs typeface="Calibri"/>
                <a:sym typeface="Calibri"/>
              </a:rPr>
              <a:t>HIGH-RISK</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 name="Shape 79"/>
        <p:cNvGrpSpPr/>
        <p:nvPr/>
      </p:nvGrpSpPr>
      <p:grpSpPr>
        <a:xfrm>
          <a:off x="0" y="0"/>
          <a:ext cx="0" cy="0"/>
          <a:chOff x="0" y="0"/>
          <a:chExt cx="0" cy="0"/>
        </a:xfrm>
      </p:grpSpPr>
      <p:sp>
        <p:nvSpPr>
          <p:cNvPr id="80" name="Google Shape;80;p17"/>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THE BUSINESS PROBLEM</a:t>
            </a:r>
            <a:endParaRPr b="0" i="0" sz="1000" u="none" cap="none" strike="noStrike">
              <a:solidFill>
                <a:schemeClr val="dk1"/>
              </a:solidFill>
              <a:latin typeface="Calibri"/>
              <a:ea typeface="Calibri"/>
              <a:cs typeface="Calibri"/>
              <a:sym typeface="Calibri"/>
            </a:endParaRPr>
          </a:p>
        </p:txBody>
      </p:sp>
      <p:sp>
        <p:nvSpPr>
          <p:cNvPr id="81" name="Google Shape;81;p17"/>
          <p:cNvSpPr/>
          <p:nvPr/>
        </p:nvSpPr>
        <p:spPr>
          <a:xfrm>
            <a:off x="411480" y="445770"/>
            <a:ext cx="82981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2300"/>
              <a:buFont typeface="Cambria"/>
              <a:buNone/>
            </a:pPr>
            <a:r>
              <a:rPr b="1" i="0" lang="en" sz="2300" u="none" cap="none" strike="noStrike">
                <a:solidFill>
                  <a:srgbClr val="132A45"/>
                </a:solidFill>
                <a:latin typeface="Cambria"/>
                <a:ea typeface="Cambria"/>
                <a:cs typeface="Cambria"/>
                <a:sym typeface="Cambria"/>
              </a:rPr>
              <a:t>Readmissions are expensive</a:t>
            </a:r>
            <a:r>
              <a:rPr b="1" lang="en" sz="2300">
                <a:solidFill>
                  <a:srgbClr val="132A45"/>
                </a:solidFill>
                <a:latin typeface="Cambria"/>
                <a:ea typeface="Cambria"/>
                <a:cs typeface="Cambria"/>
                <a:sym typeface="Cambria"/>
              </a:rPr>
              <a:t> </a:t>
            </a:r>
            <a:r>
              <a:rPr b="1" i="0" lang="en" sz="2300" u="none" cap="none" strike="noStrike">
                <a:solidFill>
                  <a:srgbClr val="132A45"/>
                </a:solidFill>
                <a:latin typeface="Cambria"/>
                <a:ea typeface="Cambria"/>
                <a:cs typeface="Cambria"/>
                <a:sym typeface="Cambria"/>
              </a:rPr>
              <a:t>and often predictable</a:t>
            </a:r>
            <a:endParaRPr b="0" i="0" sz="2300" u="none" cap="none" strike="noStrike">
              <a:solidFill>
                <a:schemeClr val="dk1"/>
              </a:solidFill>
              <a:latin typeface="Calibri"/>
              <a:ea typeface="Calibri"/>
              <a:cs typeface="Calibri"/>
              <a:sym typeface="Calibri"/>
            </a:endParaRPr>
          </a:p>
        </p:txBody>
      </p:sp>
      <p:sp>
        <p:nvSpPr>
          <p:cNvPr id="82" name="Google Shape;82;p17"/>
          <p:cNvSpPr/>
          <p:nvPr/>
        </p:nvSpPr>
        <p:spPr>
          <a:xfrm>
            <a:off x="411480" y="1062990"/>
            <a:ext cx="8298180" cy="68580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4A4A4A"/>
              </a:buClr>
              <a:buSzPts val="1100"/>
              <a:buFont typeface="Calibri"/>
              <a:buNone/>
            </a:pPr>
            <a:r>
              <a:rPr b="0" i="0" lang="en" sz="1100" u="none" cap="none" strike="noStrike">
                <a:solidFill>
                  <a:srgbClr val="4A4A4A"/>
                </a:solidFill>
                <a:latin typeface="Calibri"/>
                <a:ea typeface="Calibri"/>
                <a:cs typeface="Calibri"/>
                <a:sym typeface="Calibri"/>
              </a:rPr>
              <a:t>Hospitals are increasingly evaluated and penalized on how often patients bounce back within 30 days. A readmission usually means the discharge plan, the medication regimen, or the underlying risk wasn't well understood the first time. Three questions drive better decisions before it happens:</a:t>
            </a:r>
            <a:endParaRPr b="0" i="0" sz="1100" u="none" cap="none" strike="noStrike">
              <a:solidFill>
                <a:schemeClr val="dk1"/>
              </a:solidFill>
              <a:latin typeface="Calibri"/>
              <a:ea typeface="Calibri"/>
              <a:cs typeface="Calibri"/>
              <a:sym typeface="Calibri"/>
            </a:endParaRPr>
          </a:p>
        </p:txBody>
      </p:sp>
      <p:sp>
        <p:nvSpPr>
          <p:cNvPr id="83" name="Google Shape;83;p17"/>
          <p:cNvSpPr/>
          <p:nvPr/>
        </p:nvSpPr>
        <p:spPr>
          <a:xfrm>
            <a:off x="411480" y="1954530"/>
            <a:ext cx="2708910" cy="1851660"/>
          </a:xfrm>
          <a:prstGeom prst="roundRect">
            <a:avLst>
              <a:gd fmla="val 2963" name="adj"/>
            </a:avLst>
          </a:prstGeom>
          <a:solidFill>
            <a:srgbClr val="F5F8FB"/>
          </a:solidFill>
          <a:ln>
            <a:noFill/>
          </a:ln>
          <a:effectLst>
            <a:outerShdw blurRad="76200" rotWithShape="0" algn="bl" dir="5400000" dist="25400">
              <a:srgbClr val="1A1A1A">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4" name="Google Shape;84;p17"/>
          <p:cNvSpPr/>
          <p:nvPr/>
        </p:nvSpPr>
        <p:spPr>
          <a:xfrm>
            <a:off x="617220" y="2160270"/>
            <a:ext cx="445770" cy="445770"/>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5" name="Google Shape;85;p17"/>
          <p:cNvSpPr/>
          <p:nvPr/>
        </p:nvSpPr>
        <p:spPr>
          <a:xfrm>
            <a:off x="617220" y="2160270"/>
            <a:ext cx="445770" cy="4457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86" name="Google Shape;86;p17"/>
          <p:cNvSpPr/>
          <p:nvPr/>
        </p:nvSpPr>
        <p:spPr>
          <a:xfrm>
            <a:off x="617220" y="2708910"/>
            <a:ext cx="229743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300"/>
              <a:buFont typeface="Cambria"/>
              <a:buNone/>
            </a:pPr>
            <a:r>
              <a:rPr b="1" i="0" lang="en" sz="1300" u="none" cap="none" strike="noStrike">
                <a:solidFill>
                  <a:srgbClr val="132A45"/>
                </a:solidFill>
                <a:latin typeface="Cambria"/>
                <a:ea typeface="Cambria"/>
                <a:cs typeface="Cambria"/>
                <a:sym typeface="Cambria"/>
              </a:rPr>
              <a:t>Who is at risk?</a:t>
            </a:r>
            <a:endParaRPr b="0" i="0" sz="1300" u="none" cap="none" strike="noStrike">
              <a:solidFill>
                <a:schemeClr val="dk1"/>
              </a:solidFill>
              <a:latin typeface="Calibri"/>
              <a:ea typeface="Calibri"/>
              <a:cs typeface="Calibri"/>
              <a:sym typeface="Calibri"/>
            </a:endParaRPr>
          </a:p>
        </p:txBody>
      </p:sp>
      <p:sp>
        <p:nvSpPr>
          <p:cNvPr id="87" name="Google Shape;87;p17"/>
          <p:cNvSpPr/>
          <p:nvPr/>
        </p:nvSpPr>
        <p:spPr>
          <a:xfrm>
            <a:off x="617220" y="3017520"/>
            <a:ext cx="2297430" cy="72009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A4A4A"/>
              </a:buClr>
              <a:buSzPts val="900"/>
              <a:buFont typeface="Calibri"/>
              <a:buNone/>
            </a:pPr>
            <a:r>
              <a:rPr b="0" i="0" lang="en" sz="900" u="none" cap="none" strike="noStrike">
                <a:solidFill>
                  <a:srgbClr val="4A4A4A"/>
                </a:solidFill>
                <a:latin typeface="Calibri"/>
                <a:ea typeface="Calibri"/>
                <a:cs typeface="Calibri"/>
                <a:sym typeface="Calibri"/>
              </a:rPr>
              <a:t>Which patient groups by age, insurance, diagnosis are most likely to be readmitted.</a:t>
            </a:r>
            <a:endParaRPr b="0" i="0" sz="900" u="none" cap="none" strike="noStrike">
              <a:solidFill>
                <a:schemeClr val="dk1"/>
              </a:solidFill>
              <a:latin typeface="Calibri"/>
              <a:ea typeface="Calibri"/>
              <a:cs typeface="Calibri"/>
              <a:sym typeface="Calibri"/>
            </a:endParaRPr>
          </a:p>
        </p:txBody>
      </p:sp>
      <p:sp>
        <p:nvSpPr>
          <p:cNvPr id="88" name="Google Shape;88;p17"/>
          <p:cNvSpPr/>
          <p:nvPr/>
        </p:nvSpPr>
        <p:spPr>
          <a:xfrm>
            <a:off x="3291840" y="1954530"/>
            <a:ext cx="2708910" cy="1851660"/>
          </a:xfrm>
          <a:prstGeom prst="roundRect">
            <a:avLst>
              <a:gd fmla="val 2963" name="adj"/>
            </a:avLst>
          </a:prstGeom>
          <a:solidFill>
            <a:srgbClr val="F5F8FB"/>
          </a:solidFill>
          <a:ln>
            <a:noFill/>
          </a:ln>
          <a:effectLst>
            <a:outerShdw blurRad="76200" rotWithShape="0" algn="bl" dir="5400000" dist="25400">
              <a:srgbClr val="1A1A1A">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9" name="Google Shape;89;p17"/>
          <p:cNvSpPr/>
          <p:nvPr/>
        </p:nvSpPr>
        <p:spPr>
          <a:xfrm>
            <a:off x="3497580" y="2160270"/>
            <a:ext cx="445770" cy="445770"/>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0" name="Google Shape;90;p17"/>
          <p:cNvSpPr/>
          <p:nvPr/>
        </p:nvSpPr>
        <p:spPr>
          <a:xfrm>
            <a:off x="3497580" y="2160270"/>
            <a:ext cx="445770" cy="4457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91" name="Google Shape;91;p17"/>
          <p:cNvSpPr/>
          <p:nvPr/>
        </p:nvSpPr>
        <p:spPr>
          <a:xfrm>
            <a:off x="3497580" y="2708910"/>
            <a:ext cx="229743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300"/>
              <a:buFont typeface="Cambria"/>
              <a:buNone/>
            </a:pPr>
            <a:r>
              <a:rPr b="1" i="0" lang="en" sz="1300" u="none" cap="none" strike="noStrike">
                <a:solidFill>
                  <a:srgbClr val="132A45"/>
                </a:solidFill>
                <a:latin typeface="Cambria"/>
                <a:ea typeface="Cambria"/>
                <a:cs typeface="Cambria"/>
                <a:sym typeface="Cambria"/>
              </a:rPr>
              <a:t>Why do they return?</a:t>
            </a:r>
            <a:endParaRPr b="0" i="0" sz="1300" u="none" cap="none" strike="noStrike">
              <a:solidFill>
                <a:schemeClr val="dk1"/>
              </a:solidFill>
              <a:latin typeface="Calibri"/>
              <a:ea typeface="Calibri"/>
              <a:cs typeface="Calibri"/>
              <a:sym typeface="Calibri"/>
            </a:endParaRPr>
          </a:p>
        </p:txBody>
      </p:sp>
      <p:sp>
        <p:nvSpPr>
          <p:cNvPr id="92" name="Google Shape;92;p17"/>
          <p:cNvSpPr/>
          <p:nvPr/>
        </p:nvSpPr>
        <p:spPr>
          <a:xfrm>
            <a:off x="3497580" y="3017520"/>
            <a:ext cx="2297430" cy="72009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A4A4A"/>
              </a:buClr>
              <a:buSzPts val="900"/>
              <a:buFont typeface="Calibri"/>
              <a:buNone/>
            </a:pPr>
            <a:r>
              <a:rPr b="0" i="0" lang="en" sz="900" u="none" cap="none" strike="noStrike">
                <a:solidFill>
                  <a:srgbClr val="4A4A4A"/>
                </a:solidFill>
                <a:latin typeface="Calibri"/>
                <a:ea typeface="Calibri"/>
                <a:cs typeface="Calibri"/>
                <a:sym typeface="Calibri"/>
              </a:rPr>
              <a:t>Which diagnoses are most associated with repeat admissions and longer stays.</a:t>
            </a:r>
            <a:endParaRPr b="0" i="0" sz="900" u="none" cap="none" strike="noStrike">
              <a:solidFill>
                <a:schemeClr val="dk1"/>
              </a:solidFill>
              <a:latin typeface="Calibri"/>
              <a:ea typeface="Calibri"/>
              <a:cs typeface="Calibri"/>
              <a:sym typeface="Calibri"/>
            </a:endParaRPr>
          </a:p>
        </p:txBody>
      </p:sp>
      <p:sp>
        <p:nvSpPr>
          <p:cNvPr id="93" name="Google Shape;93;p17"/>
          <p:cNvSpPr/>
          <p:nvPr/>
        </p:nvSpPr>
        <p:spPr>
          <a:xfrm>
            <a:off x="6172200" y="1954530"/>
            <a:ext cx="2708910" cy="1851660"/>
          </a:xfrm>
          <a:prstGeom prst="roundRect">
            <a:avLst>
              <a:gd fmla="val 2963" name="adj"/>
            </a:avLst>
          </a:prstGeom>
          <a:solidFill>
            <a:srgbClr val="F5F8FB"/>
          </a:solidFill>
          <a:ln>
            <a:noFill/>
          </a:ln>
          <a:effectLst>
            <a:outerShdw blurRad="76200" rotWithShape="0" algn="bl" dir="5400000" dist="25400">
              <a:srgbClr val="1A1A1A">
                <a:alpha val="12157"/>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4" name="Google Shape;94;p17"/>
          <p:cNvSpPr/>
          <p:nvPr/>
        </p:nvSpPr>
        <p:spPr>
          <a:xfrm>
            <a:off x="6377940" y="2160270"/>
            <a:ext cx="445770" cy="445770"/>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5" name="Google Shape;95;p17"/>
          <p:cNvSpPr/>
          <p:nvPr/>
        </p:nvSpPr>
        <p:spPr>
          <a:xfrm>
            <a:off x="6377940" y="2160270"/>
            <a:ext cx="445770" cy="4457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800"/>
              <a:buFont typeface="Calibri"/>
              <a:buNone/>
            </a:pPr>
            <a:r>
              <a:rPr b="1" i="0" lang="en" sz="1800" u="none" cap="none" strike="noStrike">
                <a:solidFill>
                  <a:srgbClr val="FFFFFF"/>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96" name="Google Shape;96;p17"/>
          <p:cNvSpPr/>
          <p:nvPr/>
        </p:nvSpPr>
        <p:spPr>
          <a:xfrm>
            <a:off x="6377940" y="2708910"/>
            <a:ext cx="229743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300"/>
              <a:buFont typeface="Cambria"/>
              <a:buNone/>
            </a:pPr>
            <a:r>
              <a:rPr b="1" i="0" lang="en" sz="1300" u="none" cap="none" strike="noStrike">
                <a:solidFill>
                  <a:srgbClr val="132A45"/>
                </a:solidFill>
                <a:latin typeface="Cambria"/>
                <a:ea typeface="Cambria"/>
                <a:cs typeface="Cambria"/>
                <a:sym typeface="Cambria"/>
              </a:rPr>
              <a:t>Is it safe?</a:t>
            </a:r>
            <a:endParaRPr b="0" i="0" sz="1300" u="none" cap="none" strike="noStrike">
              <a:solidFill>
                <a:schemeClr val="dk1"/>
              </a:solidFill>
              <a:latin typeface="Calibri"/>
              <a:ea typeface="Calibri"/>
              <a:cs typeface="Calibri"/>
              <a:sym typeface="Calibri"/>
            </a:endParaRPr>
          </a:p>
        </p:txBody>
      </p:sp>
      <p:sp>
        <p:nvSpPr>
          <p:cNvPr id="97" name="Google Shape;97;p17"/>
          <p:cNvSpPr/>
          <p:nvPr/>
        </p:nvSpPr>
        <p:spPr>
          <a:xfrm>
            <a:off x="6377940" y="3017520"/>
            <a:ext cx="2297430" cy="72009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A4A4A"/>
              </a:buClr>
              <a:buSzPts val="900"/>
              <a:buFont typeface="Calibri"/>
              <a:buNone/>
            </a:pPr>
            <a:r>
              <a:rPr b="0" i="0" lang="en" sz="900" u="none" cap="none" strike="noStrike">
                <a:solidFill>
                  <a:srgbClr val="4A4A4A"/>
                </a:solidFill>
                <a:latin typeface="Calibri"/>
                <a:ea typeface="Calibri"/>
                <a:cs typeface="Calibri"/>
                <a:sym typeface="Calibri"/>
              </a:rPr>
              <a:t>Which medications carry the highest reported rate of adverse events.</a:t>
            </a:r>
            <a:endParaRPr b="0" i="0" sz="900" u="none" cap="none" strike="noStrike">
              <a:solidFill>
                <a:schemeClr val="dk1"/>
              </a:solidFill>
              <a:latin typeface="Calibri"/>
              <a:ea typeface="Calibri"/>
              <a:cs typeface="Calibri"/>
              <a:sym typeface="Calibri"/>
            </a:endParaRPr>
          </a:p>
        </p:txBody>
      </p:sp>
      <p:sp>
        <p:nvSpPr>
          <p:cNvPr id="98" name="Google Shape;98;p17"/>
          <p:cNvSpPr/>
          <p:nvPr/>
        </p:nvSpPr>
        <p:spPr>
          <a:xfrm>
            <a:off x="411480" y="4011930"/>
            <a:ext cx="8298180" cy="3429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1" lang="en" sz="1000" u="none" cap="none" strike="noStrike">
                <a:solidFill>
                  <a:srgbClr val="2A78D6"/>
                </a:solidFill>
                <a:latin typeface="Calibri"/>
                <a:ea typeface="Calibri"/>
                <a:cs typeface="Calibri"/>
                <a:sym typeface="Calibri"/>
              </a:rPr>
              <a:t>A fourth question ties it together: once we understand these patterns, can we predict readmission risk directly?</a:t>
            </a:r>
            <a:endParaRPr b="0" i="0" sz="1000" u="none" cap="none" strike="noStrike">
              <a:solidFill>
                <a:schemeClr val="dk1"/>
              </a:solidFill>
              <a:latin typeface="Calibri"/>
              <a:ea typeface="Calibri"/>
              <a:cs typeface="Calibri"/>
              <a:sym typeface="Calibri"/>
            </a:endParaRPr>
          </a:p>
        </p:txBody>
      </p:sp>
      <p:sp>
        <p:nvSpPr>
          <p:cNvPr id="99" name="Google Shape;99;p17"/>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100" name="Google Shape;100;p17"/>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2</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18"/>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DATA &amp; APPROACH</a:t>
            </a:r>
            <a:endParaRPr b="0" i="0" sz="1000" u="none" cap="none" strike="noStrike">
              <a:solidFill>
                <a:schemeClr val="dk1"/>
              </a:solidFill>
              <a:latin typeface="Calibri"/>
              <a:ea typeface="Calibri"/>
              <a:cs typeface="Calibri"/>
              <a:sym typeface="Calibri"/>
            </a:endParaRPr>
          </a:p>
        </p:txBody>
      </p:sp>
      <p:sp>
        <p:nvSpPr>
          <p:cNvPr id="107" name="Google Shape;107;p18"/>
          <p:cNvSpPr/>
          <p:nvPr/>
        </p:nvSpPr>
        <p:spPr>
          <a:xfrm>
            <a:off x="411480" y="445770"/>
            <a:ext cx="82981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2300"/>
              <a:buFont typeface="Cambria"/>
              <a:buNone/>
            </a:pPr>
            <a:r>
              <a:rPr b="1" i="0" lang="en" sz="2300" u="none" cap="none" strike="noStrike">
                <a:solidFill>
                  <a:srgbClr val="132A45"/>
                </a:solidFill>
                <a:latin typeface="Cambria"/>
                <a:ea typeface="Cambria"/>
                <a:cs typeface="Cambria"/>
                <a:sym typeface="Cambria"/>
              </a:rPr>
              <a:t>Two real-world sources, one end-to-end pipeline</a:t>
            </a:r>
            <a:endParaRPr b="0" i="0" sz="2300" u="none" cap="none" strike="noStrike">
              <a:solidFill>
                <a:schemeClr val="dk1"/>
              </a:solidFill>
              <a:latin typeface="Calibri"/>
              <a:ea typeface="Calibri"/>
              <a:cs typeface="Calibri"/>
              <a:sym typeface="Calibri"/>
            </a:endParaRPr>
          </a:p>
        </p:txBody>
      </p:sp>
      <p:sp>
        <p:nvSpPr>
          <p:cNvPr id="108" name="Google Shape;108;p18"/>
          <p:cNvSpPr/>
          <p:nvPr/>
        </p:nvSpPr>
        <p:spPr>
          <a:xfrm>
            <a:off x="411480" y="1097280"/>
            <a:ext cx="3840480" cy="3531870"/>
          </a:xfrm>
          <a:prstGeom prst="roundRect">
            <a:avLst>
              <a:gd fmla="val 1553" name="adj"/>
            </a:avLst>
          </a:prstGeom>
          <a:solidFill>
            <a:srgbClr val="132A4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9" name="Google Shape;109;p18"/>
          <p:cNvSpPr/>
          <p:nvPr/>
        </p:nvSpPr>
        <p:spPr>
          <a:xfrm>
            <a:off x="651510" y="1268730"/>
            <a:ext cx="34290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7FA8DE"/>
              </a:buClr>
              <a:buSzPts val="900"/>
              <a:buFont typeface="Calibri"/>
              <a:buNone/>
            </a:pPr>
            <a:r>
              <a:rPr b="1" i="0" lang="en" sz="900" u="none" cap="none" strike="noStrike">
                <a:solidFill>
                  <a:srgbClr val="7FA8DE"/>
                </a:solidFill>
                <a:latin typeface="Calibri"/>
                <a:ea typeface="Calibri"/>
                <a:cs typeface="Calibri"/>
                <a:sym typeface="Calibri"/>
              </a:rPr>
              <a:t>DATA SOURCES</a:t>
            </a:r>
            <a:endParaRPr b="0" i="0" sz="900" u="none" cap="none" strike="noStrike">
              <a:solidFill>
                <a:schemeClr val="dk1"/>
              </a:solidFill>
              <a:latin typeface="Calibri"/>
              <a:ea typeface="Calibri"/>
              <a:cs typeface="Calibri"/>
              <a:sym typeface="Calibri"/>
            </a:endParaRPr>
          </a:p>
        </p:txBody>
      </p:sp>
      <p:sp>
        <p:nvSpPr>
          <p:cNvPr id="110" name="Google Shape;110;p18"/>
          <p:cNvSpPr/>
          <p:nvPr/>
        </p:nvSpPr>
        <p:spPr>
          <a:xfrm>
            <a:off x="651510" y="154305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MIMIC-IV Demo</a:t>
            </a:r>
            <a:endParaRPr b="0" i="0" sz="1400" u="none" cap="none" strike="noStrike">
              <a:solidFill>
                <a:schemeClr val="dk1"/>
              </a:solidFill>
              <a:latin typeface="Calibri"/>
              <a:ea typeface="Calibri"/>
              <a:cs typeface="Calibri"/>
              <a:sym typeface="Calibri"/>
            </a:endParaRPr>
          </a:p>
        </p:txBody>
      </p:sp>
      <p:sp>
        <p:nvSpPr>
          <p:cNvPr id="111" name="Google Shape;111;p18"/>
          <p:cNvSpPr/>
          <p:nvPr/>
        </p:nvSpPr>
        <p:spPr>
          <a:xfrm>
            <a:off x="651510" y="1817370"/>
            <a:ext cx="342900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C9D9EE"/>
              </a:buClr>
              <a:buSzPts val="900"/>
              <a:buFont typeface="Calibri"/>
              <a:buNone/>
            </a:pPr>
            <a:r>
              <a:rPr b="0" i="0" lang="en" sz="900" u="none" cap="none" strike="noStrike">
                <a:solidFill>
                  <a:srgbClr val="C9D9EE"/>
                </a:solidFill>
                <a:latin typeface="Calibri"/>
                <a:ea typeface="Calibri"/>
                <a:cs typeface="Calibri"/>
                <a:sym typeface="Calibri"/>
              </a:rPr>
              <a:t>100 </a:t>
            </a:r>
            <a:r>
              <a:rPr lang="en" sz="900">
                <a:solidFill>
                  <a:srgbClr val="C9D9EE"/>
                </a:solidFill>
                <a:latin typeface="Calibri"/>
                <a:ea typeface="Calibri"/>
                <a:cs typeface="Calibri"/>
                <a:sym typeface="Calibri"/>
              </a:rPr>
              <a:t>anonymous </a:t>
            </a:r>
            <a:r>
              <a:rPr b="0" i="0" lang="en" sz="900" u="none" cap="none" strike="noStrike">
                <a:solidFill>
                  <a:srgbClr val="C9D9EE"/>
                </a:solidFill>
                <a:latin typeface="Calibri"/>
                <a:ea typeface="Calibri"/>
                <a:cs typeface="Calibri"/>
                <a:sym typeface="Calibri"/>
              </a:rPr>
              <a:t> patients • 275 hospital admissions • diagnoses, admission type, length of stay, and 30-day readmission outcome.</a:t>
            </a:r>
            <a:endParaRPr b="0" i="0" sz="900" u="none" cap="none" strike="noStrike">
              <a:solidFill>
                <a:schemeClr val="dk1"/>
              </a:solidFill>
              <a:latin typeface="Calibri"/>
              <a:ea typeface="Calibri"/>
              <a:cs typeface="Calibri"/>
              <a:sym typeface="Calibri"/>
            </a:endParaRPr>
          </a:p>
        </p:txBody>
      </p:sp>
      <p:cxnSp>
        <p:nvCxnSpPr>
          <p:cNvPr id="112" name="Google Shape;112;p18"/>
          <p:cNvCxnSpPr/>
          <p:nvPr/>
        </p:nvCxnSpPr>
        <p:spPr>
          <a:xfrm>
            <a:off x="651510" y="2503170"/>
            <a:ext cx="3360420" cy="0"/>
          </a:xfrm>
          <a:prstGeom prst="straightConnector1">
            <a:avLst/>
          </a:prstGeom>
          <a:noFill/>
          <a:ln cap="flat" cmpd="sng" w="12700">
            <a:solidFill>
              <a:srgbClr val="2D4468"/>
            </a:solidFill>
            <a:prstDash val="solid"/>
            <a:round/>
            <a:headEnd len="sm" w="sm" type="none"/>
            <a:tailEnd len="sm" w="sm" type="none"/>
          </a:ln>
        </p:spPr>
      </p:cxnSp>
      <p:sp>
        <p:nvSpPr>
          <p:cNvPr id="113" name="Google Shape;113;p18"/>
          <p:cNvSpPr/>
          <p:nvPr/>
        </p:nvSpPr>
        <p:spPr>
          <a:xfrm>
            <a:off x="651510" y="2640330"/>
            <a:ext cx="3429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1400"/>
              <a:buFont typeface="Cambria"/>
              <a:buNone/>
            </a:pPr>
            <a:r>
              <a:rPr b="1" i="0" lang="en" sz="1400" u="none" cap="none" strike="noStrike">
                <a:solidFill>
                  <a:srgbClr val="FFFFFF"/>
                </a:solidFill>
                <a:latin typeface="Cambria"/>
                <a:ea typeface="Cambria"/>
                <a:cs typeface="Cambria"/>
                <a:sym typeface="Cambria"/>
              </a:rPr>
              <a:t>OpenFDA Adverse Event API</a:t>
            </a:r>
            <a:endParaRPr b="0" i="0" sz="1400" u="none" cap="none" strike="noStrike">
              <a:solidFill>
                <a:schemeClr val="dk1"/>
              </a:solidFill>
              <a:latin typeface="Calibri"/>
              <a:ea typeface="Calibri"/>
              <a:cs typeface="Calibri"/>
              <a:sym typeface="Calibri"/>
            </a:endParaRPr>
          </a:p>
        </p:txBody>
      </p:sp>
      <p:sp>
        <p:nvSpPr>
          <p:cNvPr id="114" name="Google Shape;114;p18"/>
          <p:cNvSpPr/>
          <p:nvPr/>
        </p:nvSpPr>
        <p:spPr>
          <a:xfrm>
            <a:off x="651510" y="2914650"/>
            <a:ext cx="3429000" cy="65151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C9D9EE"/>
              </a:buClr>
              <a:buSzPts val="900"/>
              <a:buFont typeface="Calibri"/>
              <a:buNone/>
            </a:pPr>
            <a:r>
              <a:rPr b="0" i="0" lang="en" sz="900" u="none" cap="none" strike="noStrike">
                <a:solidFill>
                  <a:srgbClr val="C9D9EE"/>
                </a:solidFill>
                <a:latin typeface="Calibri"/>
                <a:ea typeface="Calibri"/>
                <a:cs typeface="Calibri"/>
                <a:sym typeface="Calibri"/>
              </a:rPr>
              <a:t>Public FDA feed of reported drug adverse events, pulled live via API </a:t>
            </a:r>
            <a:r>
              <a:rPr lang="en" sz="900">
                <a:solidFill>
                  <a:srgbClr val="C9D9EE"/>
                </a:solidFill>
                <a:latin typeface="Calibri"/>
                <a:ea typeface="Calibri"/>
                <a:cs typeface="Calibri"/>
                <a:sym typeface="Calibri"/>
              </a:rPr>
              <a:t> </a:t>
            </a:r>
            <a:r>
              <a:rPr b="0" i="0" lang="en" sz="900" u="none" cap="none" strike="noStrike">
                <a:solidFill>
                  <a:srgbClr val="C9D9EE"/>
                </a:solidFill>
                <a:latin typeface="Calibri"/>
                <a:ea typeface="Calibri"/>
                <a:cs typeface="Calibri"/>
                <a:sym typeface="Calibri"/>
              </a:rPr>
              <a:t> an independent medication-safety signal, not linked to these specific patients.</a:t>
            </a:r>
            <a:endParaRPr b="0" i="0" sz="900" u="none" cap="none" strike="noStrike">
              <a:solidFill>
                <a:schemeClr val="dk1"/>
              </a:solidFill>
              <a:latin typeface="Calibri"/>
              <a:ea typeface="Calibri"/>
              <a:cs typeface="Calibri"/>
              <a:sym typeface="Calibri"/>
            </a:endParaRPr>
          </a:p>
        </p:txBody>
      </p:sp>
      <p:sp>
        <p:nvSpPr>
          <p:cNvPr id="115" name="Google Shape;115;p18"/>
          <p:cNvSpPr/>
          <p:nvPr/>
        </p:nvSpPr>
        <p:spPr>
          <a:xfrm>
            <a:off x="651510" y="3669030"/>
            <a:ext cx="3360420" cy="822960"/>
          </a:xfrm>
          <a:prstGeom prst="roundRect">
            <a:avLst>
              <a:gd fmla="val 5000" name="adj"/>
            </a:avLst>
          </a:prstGeom>
          <a:solidFill>
            <a:srgbClr val="0C1E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6" name="Google Shape;116;p18"/>
          <p:cNvSpPr/>
          <p:nvPr/>
        </p:nvSpPr>
        <p:spPr>
          <a:xfrm>
            <a:off x="822960" y="3669030"/>
            <a:ext cx="3017520" cy="82296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9FB4D0"/>
              </a:buClr>
              <a:buSzPts val="900"/>
              <a:buFont typeface="Calibri"/>
              <a:buNone/>
            </a:pPr>
            <a:r>
              <a:rPr b="0" i="1" lang="en" sz="900" u="none" cap="none" strike="noStrike">
                <a:solidFill>
                  <a:srgbClr val="9FB4D0"/>
                </a:solidFill>
                <a:latin typeface="Calibri"/>
                <a:ea typeface="Calibri"/>
                <a:cs typeface="Calibri"/>
                <a:sym typeface="Calibri"/>
              </a:rPr>
              <a:t>Every number in this deck is recomputed directly from the current processed data</a:t>
            </a:r>
            <a:r>
              <a:rPr i="1" lang="en" sz="900">
                <a:solidFill>
                  <a:srgbClr val="9FB4D0"/>
                </a:solidFill>
                <a:latin typeface="Calibri"/>
                <a:ea typeface="Calibri"/>
                <a:cs typeface="Calibri"/>
                <a:sym typeface="Calibri"/>
              </a:rPr>
              <a:t>.</a:t>
            </a:r>
            <a:endParaRPr b="0" i="0" sz="900" u="none" cap="none" strike="noStrike">
              <a:solidFill>
                <a:schemeClr val="dk1"/>
              </a:solidFill>
              <a:latin typeface="Calibri"/>
              <a:ea typeface="Calibri"/>
              <a:cs typeface="Calibri"/>
              <a:sym typeface="Calibri"/>
            </a:endParaRPr>
          </a:p>
        </p:txBody>
      </p:sp>
      <p:sp>
        <p:nvSpPr>
          <p:cNvPr id="117" name="Google Shape;117;p18"/>
          <p:cNvSpPr/>
          <p:nvPr/>
        </p:nvSpPr>
        <p:spPr>
          <a:xfrm>
            <a:off x="4491990" y="126873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900"/>
              <a:buFont typeface="Calibri"/>
              <a:buNone/>
            </a:pPr>
            <a:r>
              <a:rPr b="1" i="0" lang="en" sz="900" u="none" cap="none" strike="noStrike">
                <a:solidFill>
                  <a:srgbClr val="2A78D6"/>
                </a:solidFill>
                <a:latin typeface="Calibri"/>
                <a:ea typeface="Calibri"/>
                <a:cs typeface="Calibri"/>
                <a:sym typeface="Calibri"/>
              </a:rPr>
              <a:t>TOOLS &amp; TECHNIQUES APPLIED</a:t>
            </a:r>
            <a:endParaRPr b="0" i="0" sz="900" u="none" cap="none" strike="noStrike">
              <a:solidFill>
                <a:schemeClr val="dk1"/>
              </a:solidFill>
              <a:latin typeface="Calibri"/>
              <a:ea typeface="Calibri"/>
              <a:cs typeface="Calibri"/>
              <a:sym typeface="Calibri"/>
            </a:endParaRPr>
          </a:p>
        </p:txBody>
      </p:sp>
      <p:sp>
        <p:nvSpPr>
          <p:cNvPr id="118" name="Google Shape;118;p18"/>
          <p:cNvSpPr/>
          <p:nvPr/>
        </p:nvSpPr>
        <p:spPr>
          <a:xfrm>
            <a:off x="4491990" y="157734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9" name="Google Shape;119;p18"/>
          <p:cNvSpPr/>
          <p:nvPr/>
        </p:nvSpPr>
        <p:spPr>
          <a:xfrm>
            <a:off x="4594860" y="168706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0" name="Google Shape;120;p18"/>
          <p:cNvSpPr/>
          <p:nvPr/>
        </p:nvSpPr>
        <p:spPr>
          <a:xfrm>
            <a:off x="4594860" y="168706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21" name="Google Shape;121;p18"/>
          <p:cNvSpPr/>
          <p:nvPr/>
        </p:nvSpPr>
        <p:spPr>
          <a:xfrm>
            <a:off x="5109210" y="163220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Python</a:t>
            </a:r>
            <a:endParaRPr b="0" i="0" sz="1000" u="none" cap="none" strike="noStrike">
              <a:solidFill>
                <a:schemeClr val="dk1"/>
              </a:solidFill>
              <a:latin typeface="Calibri"/>
              <a:ea typeface="Calibri"/>
              <a:cs typeface="Calibri"/>
              <a:sym typeface="Calibri"/>
            </a:endParaRPr>
          </a:p>
        </p:txBody>
      </p:sp>
      <p:sp>
        <p:nvSpPr>
          <p:cNvPr id="122" name="Google Shape;122;p18"/>
          <p:cNvSpPr/>
          <p:nvPr/>
        </p:nvSpPr>
        <p:spPr>
          <a:xfrm>
            <a:off x="5109210" y="186537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pandas / numpy pipeline</a:t>
            </a:r>
            <a:endParaRPr b="0" i="0" sz="800" u="none" cap="none" strike="noStrike">
              <a:solidFill>
                <a:schemeClr val="dk1"/>
              </a:solidFill>
              <a:latin typeface="Calibri"/>
              <a:ea typeface="Calibri"/>
              <a:cs typeface="Calibri"/>
              <a:sym typeface="Calibri"/>
            </a:endParaRPr>
          </a:p>
        </p:txBody>
      </p:sp>
      <p:sp>
        <p:nvSpPr>
          <p:cNvPr id="123" name="Google Shape;123;p18"/>
          <p:cNvSpPr/>
          <p:nvPr/>
        </p:nvSpPr>
        <p:spPr>
          <a:xfrm>
            <a:off x="6823710" y="157734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18"/>
          <p:cNvSpPr/>
          <p:nvPr/>
        </p:nvSpPr>
        <p:spPr>
          <a:xfrm>
            <a:off x="6926580" y="168706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18"/>
          <p:cNvSpPr/>
          <p:nvPr/>
        </p:nvSpPr>
        <p:spPr>
          <a:xfrm>
            <a:off x="6926580" y="168706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26" name="Google Shape;126;p18"/>
          <p:cNvSpPr/>
          <p:nvPr/>
        </p:nvSpPr>
        <p:spPr>
          <a:xfrm>
            <a:off x="7440930" y="163220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Data Cleaning</a:t>
            </a:r>
            <a:endParaRPr b="0" i="0" sz="1000" u="none" cap="none" strike="noStrike">
              <a:solidFill>
                <a:schemeClr val="dk1"/>
              </a:solidFill>
              <a:latin typeface="Calibri"/>
              <a:ea typeface="Calibri"/>
              <a:cs typeface="Calibri"/>
              <a:sym typeface="Calibri"/>
            </a:endParaRPr>
          </a:p>
        </p:txBody>
      </p:sp>
      <p:sp>
        <p:nvSpPr>
          <p:cNvPr id="127" name="Google Shape;127;p18"/>
          <p:cNvSpPr/>
          <p:nvPr/>
        </p:nvSpPr>
        <p:spPr>
          <a:xfrm>
            <a:off x="7440930" y="186537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typing, nulls, duplic</a:t>
            </a:r>
            <a:r>
              <a:rPr lang="en" sz="800">
                <a:solidFill>
                  <a:srgbClr val="4A4A4A"/>
                </a:solidFill>
                <a:latin typeface="Calibri"/>
                <a:ea typeface="Calibri"/>
                <a:cs typeface="Calibri"/>
                <a:sym typeface="Calibri"/>
              </a:rPr>
              <a:t>ate</a:t>
            </a:r>
            <a:endParaRPr b="0" i="0" sz="800" u="none" cap="none" strike="noStrike">
              <a:solidFill>
                <a:schemeClr val="dk1"/>
              </a:solidFill>
              <a:latin typeface="Calibri"/>
              <a:ea typeface="Calibri"/>
              <a:cs typeface="Calibri"/>
              <a:sym typeface="Calibri"/>
            </a:endParaRPr>
          </a:p>
        </p:txBody>
      </p:sp>
      <p:sp>
        <p:nvSpPr>
          <p:cNvPr id="128" name="Google Shape;128;p18"/>
          <p:cNvSpPr/>
          <p:nvPr/>
        </p:nvSpPr>
        <p:spPr>
          <a:xfrm>
            <a:off x="4491990" y="233172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9" name="Google Shape;129;p18"/>
          <p:cNvSpPr/>
          <p:nvPr/>
        </p:nvSpPr>
        <p:spPr>
          <a:xfrm>
            <a:off x="4594860" y="244144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0" name="Google Shape;130;p18"/>
          <p:cNvSpPr/>
          <p:nvPr/>
        </p:nvSpPr>
        <p:spPr>
          <a:xfrm>
            <a:off x="4594860" y="244144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1" name="Google Shape;131;p18"/>
          <p:cNvSpPr/>
          <p:nvPr/>
        </p:nvSpPr>
        <p:spPr>
          <a:xfrm>
            <a:off x="5109210" y="238658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Data Wrangling</a:t>
            </a:r>
            <a:endParaRPr b="0" i="0" sz="1000" u="none" cap="none" strike="noStrike">
              <a:solidFill>
                <a:schemeClr val="dk1"/>
              </a:solidFill>
              <a:latin typeface="Calibri"/>
              <a:ea typeface="Calibri"/>
              <a:cs typeface="Calibri"/>
              <a:sym typeface="Calibri"/>
            </a:endParaRPr>
          </a:p>
        </p:txBody>
      </p:sp>
      <p:sp>
        <p:nvSpPr>
          <p:cNvPr id="132" name="Google Shape;132;p18"/>
          <p:cNvSpPr/>
          <p:nvPr/>
        </p:nvSpPr>
        <p:spPr>
          <a:xfrm>
            <a:off x="5109210" y="261975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joins across 3 sources</a:t>
            </a:r>
            <a:endParaRPr b="0" i="0" sz="800" u="none" cap="none" strike="noStrike">
              <a:solidFill>
                <a:schemeClr val="dk1"/>
              </a:solidFill>
              <a:latin typeface="Calibri"/>
              <a:ea typeface="Calibri"/>
              <a:cs typeface="Calibri"/>
              <a:sym typeface="Calibri"/>
            </a:endParaRPr>
          </a:p>
        </p:txBody>
      </p:sp>
      <p:sp>
        <p:nvSpPr>
          <p:cNvPr id="133" name="Google Shape;133;p18"/>
          <p:cNvSpPr/>
          <p:nvPr/>
        </p:nvSpPr>
        <p:spPr>
          <a:xfrm>
            <a:off x="6823710" y="233172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4" name="Google Shape;134;p18"/>
          <p:cNvSpPr/>
          <p:nvPr/>
        </p:nvSpPr>
        <p:spPr>
          <a:xfrm>
            <a:off x="6926580" y="244144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5" name="Google Shape;135;p18"/>
          <p:cNvSpPr/>
          <p:nvPr/>
        </p:nvSpPr>
        <p:spPr>
          <a:xfrm>
            <a:off x="6926580" y="244144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36" name="Google Shape;136;p18"/>
          <p:cNvSpPr/>
          <p:nvPr/>
        </p:nvSpPr>
        <p:spPr>
          <a:xfrm>
            <a:off x="7440930" y="238658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API Integration</a:t>
            </a:r>
            <a:endParaRPr b="0" i="0" sz="1000" u="none" cap="none" strike="noStrike">
              <a:solidFill>
                <a:schemeClr val="dk1"/>
              </a:solidFill>
              <a:latin typeface="Calibri"/>
              <a:ea typeface="Calibri"/>
              <a:cs typeface="Calibri"/>
              <a:sym typeface="Calibri"/>
            </a:endParaRPr>
          </a:p>
        </p:txBody>
      </p:sp>
      <p:sp>
        <p:nvSpPr>
          <p:cNvPr id="137" name="Google Shape;137;p18"/>
          <p:cNvSpPr/>
          <p:nvPr/>
        </p:nvSpPr>
        <p:spPr>
          <a:xfrm>
            <a:off x="7440930" y="261975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live OpenFDA pulls</a:t>
            </a:r>
            <a:endParaRPr b="0" i="0" sz="800" u="none" cap="none" strike="noStrike">
              <a:solidFill>
                <a:schemeClr val="dk1"/>
              </a:solidFill>
              <a:latin typeface="Calibri"/>
              <a:ea typeface="Calibri"/>
              <a:cs typeface="Calibri"/>
              <a:sym typeface="Calibri"/>
            </a:endParaRPr>
          </a:p>
        </p:txBody>
      </p:sp>
      <p:sp>
        <p:nvSpPr>
          <p:cNvPr id="138" name="Google Shape;138;p18"/>
          <p:cNvSpPr/>
          <p:nvPr/>
        </p:nvSpPr>
        <p:spPr>
          <a:xfrm>
            <a:off x="4491990" y="308610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39" name="Google Shape;139;p18"/>
          <p:cNvSpPr/>
          <p:nvPr/>
        </p:nvSpPr>
        <p:spPr>
          <a:xfrm>
            <a:off x="4594860" y="319582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0" name="Google Shape;140;p18"/>
          <p:cNvSpPr/>
          <p:nvPr/>
        </p:nvSpPr>
        <p:spPr>
          <a:xfrm>
            <a:off x="4594860" y="319582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41" name="Google Shape;141;p18"/>
          <p:cNvSpPr/>
          <p:nvPr/>
        </p:nvSpPr>
        <p:spPr>
          <a:xfrm>
            <a:off x="5109210" y="314096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EDA &amp; </a:t>
            </a:r>
            <a:r>
              <a:rPr b="1" lang="en" sz="1000">
                <a:solidFill>
                  <a:srgbClr val="132A45"/>
                </a:solidFill>
                <a:latin typeface="Calibri"/>
                <a:ea typeface="Calibri"/>
                <a:cs typeface="Calibri"/>
                <a:sym typeface="Calibri"/>
              </a:rPr>
              <a:t>Visualizations</a:t>
            </a:r>
            <a:r>
              <a:rPr b="1" i="0" lang="en" sz="1000" u="none" cap="none" strike="noStrike">
                <a:solidFill>
                  <a:srgbClr val="132A45"/>
                </a:solidFill>
                <a:latin typeface="Calibri"/>
                <a:ea typeface="Calibri"/>
                <a:cs typeface="Calibri"/>
                <a:sym typeface="Calibri"/>
              </a:rPr>
              <a:t> &amp; Statistics</a:t>
            </a:r>
            <a:endParaRPr b="0" i="0" sz="1000" u="none" cap="none" strike="noStrike">
              <a:solidFill>
                <a:schemeClr val="dk1"/>
              </a:solidFill>
              <a:latin typeface="Calibri"/>
              <a:ea typeface="Calibri"/>
              <a:cs typeface="Calibri"/>
              <a:sym typeface="Calibri"/>
            </a:endParaRPr>
          </a:p>
        </p:txBody>
      </p:sp>
      <p:sp>
        <p:nvSpPr>
          <p:cNvPr id="142" name="Google Shape;142;p18"/>
          <p:cNvSpPr/>
          <p:nvPr/>
        </p:nvSpPr>
        <p:spPr>
          <a:xfrm>
            <a:off x="5109210" y="337413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distributions, correlation</a:t>
            </a:r>
            <a:endParaRPr b="0" i="0" sz="800" u="none" cap="none" strike="noStrike">
              <a:solidFill>
                <a:schemeClr val="dk1"/>
              </a:solidFill>
              <a:latin typeface="Calibri"/>
              <a:ea typeface="Calibri"/>
              <a:cs typeface="Calibri"/>
              <a:sym typeface="Calibri"/>
            </a:endParaRPr>
          </a:p>
        </p:txBody>
      </p:sp>
      <p:sp>
        <p:nvSpPr>
          <p:cNvPr id="143" name="Google Shape;143;p18"/>
          <p:cNvSpPr/>
          <p:nvPr/>
        </p:nvSpPr>
        <p:spPr>
          <a:xfrm>
            <a:off x="6823710" y="308610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4" name="Google Shape;144;p18"/>
          <p:cNvSpPr/>
          <p:nvPr/>
        </p:nvSpPr>
        <p:spPr>
          <a:xfrm>
            <a:off x="6926580" y="319582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5" name="Google Shape;145;p18"/>
          <p:cNvSpPr/>
          <p:nvPr/>
        </p:nvSpPr>
        <p:spPr>
          <a:xfrm>
            <a:off x="6926580" y="319582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46" name="Google Shape;146;p18"/>
          <p:cNvSpPr/>
          <p:nvPr/>
        </p:nvSpPr>
        <p:spPr>
          <a:xfrm>
            <a:off x="7440930" y="314096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Machine Learning</a:t>
            </a:r>
            <a:endParaRPr b="0" i="0" sz="1000" u="none" cap="none" strike="noStrike">
              <a:solidFill>
                <a:schemeClr val="dk1"/>
              </a:solidFill>
              <a:latin typeface="Calibri"/>
              <a:ea typeface="Calibri"/>
              <a:cs typeface="Calibri"/>
              <a:sym typeface="Calibri"/>
            </a:endParaRPr>
          </a:p>
        </p:txBody>
      </p:sp>
      <p:sp>
        <p:nvSpPr>
          <p:cNvPr id="147" name="Google Shape;147;p18"/>
          <p:cNvSpPr/>
          <p:nvPr/>
        </p:nvSpPr>
        <p:spPr>
          <a:xfrm>
            <a:off x="7440930" y="337413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LogReg vs Random Forest</a:t>
            </a:r>
            <a:endParaRPr b="0" i="0" sz="800" u="none" cap="none" strike="noStrike">
              <a:solidFill>
                <a:schemeClr val="dk1"/>
              </a:solidFill>
              <a:latin typeface="Calibri"/>
              <a:ea typeface="Calibri"/>
              <a:cs typeface="Calibri"/>
              <a:sym typeface="Calibri"/>
            </a:endParaRPr>
          </a:p>
        </p:txBody>
      </p:sp>
      <p:sp>
        <p:nvSpPr>
          <p:cNvPr id="148" name="Google Shape;148;p18"/>
          <p:cNvSpPr/>
          <p:nvPr/>
        </p:nvSpPr>
        <p:spPr>
          <a:xfrm>
            <a:off x="4491990" y="384048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9" name="Google Shape;149;p18"/>
          <p:cNvSpPr/>
          <p:nvPr/>
        </p:nvSpPr>
        <p:spPr>
          <a:xfrm>
            <a:off x="4594860" y="395020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0" name="Google Shape;150;p18"/>
          <p:cNvSpPr/>
          <p:nvPr/>
        </p:nvSpPr>
        <p:spPr>
          <a:xfrm>
            <a:off x="4594860" y="395020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51" name="Google Shape;151;p18"/>
          <p:cNvSpPr/>
          <p:nvPr/>
        </p:nvSpPr>
        <p:spPr>
          <a:xfrm>
            <a:off x="5109210" y="389534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SQL</a:t>
            </a:r>
            <a:endParaRPr b="0" i="0" sz="1000" u="none" cap="none" strike="noStrike">
              <a:solidFill>
                <a:schemeClr val="dk1"/>
              </a:solidFill>
              <a:latin typeface="Calibri"/>
              <a:ea typeface="Calibri"/>
              <a:cs typeface="Calibri"/>
              <a:sym typeface="Calibri"/>
            </a:endParaRPr>
          </a:p>
        </p:txBody>
      </p:sp>
      <p:sp>
        <p:nvSpPr>
          <p:cNvPr id="152" name="Google Shape;152;p18"/>
          <p:cNvSpPr/>
          <p:nvPr/>
        </p:nvSpPr>
        <p:spPr>
          <a:xfrm>
            <a:off x="5109210" y="412851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queries over the merged schema</a:t>
            </a:r>
            <a:endParaRPr b="0" i="0" sz="800" u="none" cap="none" strike="noStrike">
              <a:solidFill>
                <a:schemeClr val="dk1"/>
              </a:solidFill>
              <a:latin typeface="Calibri"/>
              <a:ea typeface="Calibri"/>
              <a:cs typeface="Calibri"/>
              <a:sym typeface="Calibri"/>
            </a:endParaRPr>
          </a:p>
        </p:txBody>
      </p:sp>
      <p:sp>
        <p:nvSpPr>
          <p:cNvPr id="153" name="Google Shape;153;p18"/>
          <p:cNvSpPr/>
          <p:nvPr/>
        </p:nvSpPr>
        <p:spPr>
          <a:xfrm>
            <a:off x="6823710" y="3840480"/>
            <a:ext cx="2194560" cy="651510"/>
          </a:xfrm>
          <a:prstGeom prst="roundRect">
            <a:avLst>
              <a:gd fmla="val 7368"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18"/>
          <p:cNvSpPr/>
          <p:nvPr/>
        </p:nvSpPr>
        <p:spPr>
          <a:xfrm>
            <a:off x="6926580" y="3950208"/>
            <a:ext cx="411480" cy="411480"/>
          </a:xfrm>
          <a:prstGeom prst="ellipse">
            <a:avLst/>
          </a:prstGeom>
          <a:solidFill>
            <a:srgbClr val="E8F1FC"/>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5" name="Google Shape;155;p18"/>
          <p:cNvSpPr/>
          <p:nvPr/>
        </p:nvSpPr>
        <p:spPr>
          <a:xfrm>
            <a:off x="6926580" y="3950208"/>
            <a:ext cx="411480" cy="41148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1700"/>
              <a:buFont typeface="Calibri"/>
              <a:buNone/>
            </a:pPr>
            <a:r>
              <a:rPr b="1" i="0" lang="en" sz="1700" u="none" cap="none" strike="noStrike">
                <a:solidFill>
                  <a:srgbClr val="2A78D6"/>
                </a:solidFill>
                <a:latin typeface="Calibri"/>
                <a:ea typeface="Calibri"/>
                <a:cs typeface="Calibri"/>
                <a:sym typeface="Calibri"/>
              </a:rPr>
              <a:t>📈</a:t>
            </a:r>
            <a:endParaRPr b="0" i="0" sz="1700" u="none" cap="none" strike="noStrike">
              <a:solidFill>
                <a:schemeClr val="dk1"/>
              </a:solidFill>
              <a:latin typeface="Calibri"/>
              <a:ea typeface="Calibri"/>
              <a:cs typeface="Calibri"/>
              <a:sym typeface="Calibri"/>
            </a:endParaRPr>
          </a:p>
        </p:txBody>
      </p:sp>
      <p:sp>
        <p:nvSpPr>
          <p:cNvPr id="156" name="Google Shape;156;p18"/>
          <p:cNvSpPr/>
          <p:nvPr/>
        </p:nvSpPr>
        <p:spPr>
          <a:xfrm>
            <a:off x="7440930" y="3895344"/>
            <a:ext cx="147447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Streamlit + Tableau</a:t>
            </a:r>
            <a:endParaRPr b="0" i="0" sz="1000" u="none" cap="none" strike="noStrike">
              <a:solidFill>
                <a:schemeClr val="dk1"/>
              </a:solidFill>
              <a:latin typeface="Calibri"/>
              <a:ea typeface="Calibri"/>
              <a:cs typeface="Calibri"/>
              <a:sym typeface="Calibri"/>
            </a:endParaRPr>
          </a:p>
        </p:txBody>
      </p:sp>
      <p:sp>
        <p:nvSpPr>
          <p:cNvPr id="157" name="Google Shape;157;p18"/>
          <p:cNvSpPr/>
          <p:nvPr/>
        </p:nvSpPr>
        <p:spPr>
          <a:xfrm>
            <a:off x="7440930" y="4128516"/>
            <a:ext cx="1474470" cy="342900"/>
          </a:xfrm>
          <a:prstGeom prst="rect">
            <a:avLst/>
          </a:prstGeom>
          <a:noFill/>
          <a:ln>
            <a:noFill/>
          </a:ln>
        </p:spPr>
        <p:txBody>
          <a:bodyPr anchorCtr="0" anchor="ctr" bIns="34275" lIns="68575" spcFirstLastPara="1" rIns="68575" wrap="square" tIns="34275">
            <a:noAutofit/>
          </a:bodyPr>
          <a:lstStyle/>
          <a:p>
            <a:pPr indent="0" lvl="0" marL="0" marR="0" rtl="0" algn="l">
              <a:lnSpc>
                <a:spcPct val="11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interactive delivery</a:t>
            </a:r>
            <a:endParaRPr b="0" i="0" sz="800" u="none" cap="none" strike="noStrike">
              <a:solidFill>
                <a:schemeClr val="dk1"/>
              </a:solidFill>
              <a:latin typeface="Calibri"/>
              <a:ea typeface="Calibri"/>
              <a:cs typeface="Calibri"/>
              <a:sym typeface="Calibri"/>
            </a:endParaRPr>
          </a:p>
        </p:txBody>
      </p:sp>
      <p:sp>
        <p:nvSpPr>
          <p:cNvPr id="158" name="Google Shape;158;p18"/>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159" name="Google Shape;159;p18"/>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3</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9"/>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EXECUTIVE OVERVIEW</a:t>
            </a:r>
            <a:endParaRPr b="0" i="0" sz="1000" u="none" cap="none" strike="noStrike">
              <a:solidFill>
                <a:schemeClr val="dk1"/>
              </a:solidFill>
              <a:latin typeface="Calibri"/>
              <a:ea typeface="Calibri"/>
              <a:cs typeface="Calibri"/>
              <a:sym typeface="Calibri"/>
            </a:endParaRPr>
          </a:p>
        </p:txBody>
      </p:sp>
      <p:sp>
        <p:nvSpPr>
          <p:cNvPr id="166" name="Google Shape;166;p19"/>
          <p:cNvSpPr/>
          <p:nvPr/>
        </p:nvSpPr>
        <p:spPr>
          <a:xfrm>
            <a:off x="411480" y="445770"/>
            <a:ext cx="82981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2300"/>
              <a:buFont typeface="Cambria"/>
              <a:buNone/>
            </a:pPr>
            <a:r>
              <a:rPr b="1" i="0" lang="en" sz="2300" u="none" cap="none" strike="noStrike">
                <a:solidFill>
                  <a:srgbClr val="132A45"/>
                </a:solidFill>
                <a:latin typeface="Cambria"/>
                <a:ea typeface="Cambria"/>
                <a:cs typeface="Cambria"/>
                <a:sym typeface="Cambria"/>
              </a:rPr>
              <a:t>The population, at a glance</a:t>
            </a:r>
            <a:endParaRPr b="0" i="0" sz="2300" u="none" cap="none" strike="noStrike">
              <a:solidFill>
                <a:schemeClr val="dk1"/>
              </a:solidFill>
              <a:latin typeface="Calibri"/>
              <a:ea typeface="Calibri"/>
              <a:cs typeface="Calibri"/>
              <a:sym typeface="Calibri"/>
            </a:endParaRPr>
          </a:p>
        </p:txBody>
      </p:sp>
      <p:sp>
        <p:nvSpPr>
          <p:cNvPr id="167" name="Google Shape;167;p19"/>
          <p:cNvSpPr/>
          <p:nvPr/>
        </p:nvSpPr>
        <p:spPr>
          <a:xfrm>
            <a:off x="411480" y="1200150"/>
            <a:ext cx="2023110" cy="1371600"/>
          </a:xfrm>
          <a:prstGeom prst="roundRect">
            <a:avLst>
              <a:gd fmla="val 4000" name="adj"/>
            </a:avLst>
          </a:prstGeom>
          <a:solidFill>
            <a:srgbClr val="F5F8FB"/>
          </a:solidFill>
          <a:ln>
            <a:noFill/>
          </a:ln>
          <a:effectLst>
            <a:outerShdw blurRad="63500" rotWithShape="0" algn="bl" dir="5400000" dist="25400">
              <a:srgbClr val="1A1A1A">
                <a:alpha val="1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68" name="Google Shape;168;p19"/>
          <p:cNvSpPr/>
          <p:nvPr/>
        </p:nvSpPr>
        <p:spPr>
          <a:xfrm>
            <a:off x="411480" y="1371600"/>
            <a:ext cx="20231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32A45"/>
              </a:buClr>
              <a:buSzPts val="3300"/>
              <a:buFont typeface="Cambria"/>
              <a:buNone/>
            </a:pPr>
            <a:r>
              <a:rPr b="1" i="0" lang="en" sz="3300" u="none" cap="none" strike="noStrike">
                <a:solidFill>
                  <a:srgbClr val="132A45"/>
                </a:solidFill>
                <a:latin typeface="Cambria"/>
                <a:ea typeface="Cambria"/>
                <a:cs typeface="Cambria"/>
                <a:sym typeface="Cambria"/>
              </a:rPr>
              <a:t>100</a:t>
            </a:r>
            <a:endParaRPr b="0" i="0" sz="3300" u="none" cap="none" strike="noStrike">
              <a:solidFill>
                <a:schemeClr val="dk1"/>
              </a:solidFill>
              <a:latin typeface="Calibri"/>
              <a:ea typeface="Calibri"/>
              <a:cs typeface="Calibri"/>
              <a:sym typeface="Calibri"/>
            </a:endParaRPr>
          </a:p>
        </p:txBody>
      </p:sp>
      <p:sp>
        <p:nvSpPr>
          <p:cNvPr id="169" name="Google Shape;169;p19"/>
          <p:cNvSpPr/>
          <p:nvPr/>
        </p:nvSpPr>
        <p:spPr>
          <a:xfrm>
            <a:off x="514350" y="2091690"/>
            <a:ext cx="181737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900"/>
              <a:buFont typeface="Calibri"/>
              <a:buNone/>
            </a:pPr>
            <a:r>
              <a:rPr b="1" i="0" lang="en" sz="900" u="none" cap="none" strike="noStrike">
                <a:solidFill>
                  <a:srgbClr val="4A4A4A"/>
                </a:solidFill>
                <a:latin typeface="Calibri"/>
                <a:ea typeface="Calibri"/>
                <a:cs typeface="Calibri"/>
                <a:sym typeface="Calibri"/>
              </a:rPr>
              <a:t>PATIENTS</a:t>
            </a:r>
            <a:endParaRPr b="0" i="0" sz="900" u="none" cap="none" strike="noStrike">
              <a:solidFill>
                <a:schemeClr val="dk1"/>
              </a:solidFill>
              <a:latin typeface="Calibri"/>
              <a:ea typeface="Calibri"/>
              <a:cs typeface="Calibri"/>
              <a:sym typeface="Calibri"/>
            </a:endParaRPr>
          </a:p>
        </p:txBody>
      </p:sp>
      <p:sp>
        <p:nvSpPr>
          <p:cNvPr id="170" name="Google Shape;170;p19"/>
          <p:cNvSpPr/>
          <p:nvPr/>
        </p:nvSpPr>
        <p:spPr>
          <a:xfrm>
            <a:off x="2571750" y="1200150"/>
            <a:ext cx="2023110" cy="1371600"/>
          </a:xfrm>
          <a:prstGeom prst="roundRect">
            <a:avLst>
              <a:gd fmla="val 4000" name="adj"/>
            </a:avLst>
          </a:prstGeom>
          <a:solidFill>
            <a:srgbClr val="F5F8FB"/>
          </a:solidFill>
          <a:ln>
            <a:noFill/>
          </a:ln>
          <a:effectLst>
            <a:outerShdw blurRad="63500" rotWithShape="0" algn="bl" dir="5400000" dist="25400">
              <a:srgbClr val="1A1A1A">
                <a:alpha val="1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1" name="Google Shape;171;p19"/>
          <p:cNvSpPr/>
          <p:nvPr/>
        </p:nvSpPr>
        <p:spPr>
          <a:xfrm>
            <a:off x="2571750" y="1371600"/>
            <a:ext cx="20231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32A45"/>
              </a:buClr>
              <a:buSzPts val="3300"/>
              <a:buFont typeface="Cambria"/>
              <a:buNone/>
            </a:pPr>
            <a:r>
              <a:rPr b="1" i="0" lang="en" sz="3300" u="none" cap="none" strike="noStrike">
                <a:solidFill>
                  <a:srgbClr val="132A45"/>
                </a:solidFill>
                <a:latin typeface="Cambria"/>
                <a:ea typeface="Cambria"/>
                <a:cs typeface="Cambria"/>
                <a:sym typeface="Cambria"/>
              </a:rPr>
              <a:t>275</a:t>
            </a:r>
            <a:endParaRPr b="0" i="0" sz="3300" u="none" cap="none" strike="noStrike">
              <a:solidFill>
                <a:schemeClr val="dk1"/>
              </a:solidFill>
              <a:latin typeface="Calibri"/>
              <a:ea typeface="Calibri"/>
              <a:cs typeface="Calibri"/>
              <a:sym typeface="Calibri"/>
            </a:endParaRPr>
          </a:p>
        </p:txBody>
      </p:sp>
      <p:sp>
        <p:nvSpPr>
          <p:cNvPr id="172" name="Google Shape;172;p19"/>
          <p:cNvSpPr/>
          <p:nvPr/>
        </p:nvSpPr>
        <p:spPr>
          <a:xfrm>
            <a:off x="2674620" y="2091690"/>
            <a:ext cx="181737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900"/>
              <a:buFont typeface="Calibri"/>
              <a:buNone/>
            </a:pPr>
            <a:r>
              <a:rPr b="1" i="0" lang="en" sz="900" u="none" cap="none" strike="noStrike">
                <a:solidFill>
                  <a:srgbClr val="4A4A4A"/>
                </a:solidFill>
                <a:latin typeface="Calibri"/>
                <a:ea typeface="Calibri"/>
                <a:cs typeface="Calibri"/>
                <a:sym typeface="Calibri"/>
              </a:rPr>
              <a:t>ADMISSIONS</a:t>
            </a:r>
            <a:endParaRPr b="0" i="0" sz="900" u="none" cap="none" strike="noStrike">
              <a:solidFill>
                <a:schemeClr val="dk1"/>
              </a:solidFill>
              <a:latin typeface="Calibri"/>
              <a:ea typeface="Calibri"/>
              <a:cs typeface="Calibri"/>
              <a:sym typeface="Calibri"/>
            </a:endParaRPr>
          </a:p>
        </p:txBody>
      </p:sp>
      <p:sp>
        <p:nvSpPr>
          <p:cNvPr id="173" name="Google Shape;173;p19"/>
          <p:cNvSpPr/>
          <p:nvPr/>
        </p:nvSpPr>
        <p:spPr>
          <a:xfrm>
            <a:off x="4732020" y="1200150"/>
            <a:ext cx="2023110" cy="1371600"/>
          </a:xfrm>
          <a:prstGeom prst="roundRect">
            <a:avLst>
              <a:gd fmla="val 4000" name="adj"/>
            </a:avLst>
          </a:prstGeom>
          <a:solidFill>
            <a:srgbClr val="F5F8FB"/>
          </a:solidFill>
          <a:ln>
            <a:noFill/>
          </a:ln>
          <a:effectLst>
            <a:outerShdw blurRad="63500" rotWithShape="0" algn="bl" dir="5400000" dist="25400">
              <a:srgbClr val="1A1A1A">
                <a:alpha val="1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4" name="Google Shape;174;p19"/>
          <p:cNvSpPr/>
          <p:nvPr/>
        </p:nvSpPr>
        <p:spPr>
          <a:xfrm>
            <a:off x="4732020" y="1371600"/>
            <a:ext cx="20231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D03B3B"/>
              </a:buClr>
              <a:buSzPts val="3300"/>
              <a:buFont typeface="Cambria"/>
              <a:buNone/>
            </a:pPr>
            <a:r>
              <a:rPr b="1" i="0" lang="en" sz="3300" u="none" cap="none" strike="noStrike">
                <a:solidFill>
                  <a:srgbClr val="D03B3B"/>
                </a:solidFill>
                <a:latin typeface="Cambria"/>
                <a:ea typeface="Cambria"/>
                <a:cs typeface="Cambria"/>
                <a:sym typeface="Cambria"/>
              </a:rPr>
              <a:t>19.3%</a:t>
            </a:r>
            <a:endParaRPr b="0" i="0" sz="3300" u="none" cap="none" strike="noStrike">
              <a:solidFill>
                <a:schemeClr val="dk1"/>
              </a:solidFill>
              <a:latin typeface="Calibri"/>
              <a:ea typeface="Calibri"/>
              <a:cs typeface="Calibri"/>
              <a:sym typeface="Calibri"/>
            </a:endParaRPr>
          </a:p>
        </p:txBody>
      </p:sp>
      <p:sp>
        <p:nvSpPr>
          <p:cNvPr id="175" name="Google Shape;175;p19"/>
          <p:cNvSpPr/>
          <p:nvPr/>
        </p:nvSpPr>
        <p:spPr>
          <a:xfrm>
            <a:off x="4834890" y="2091690"/>
            <a:ext cx="181737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900"/>
              <a:buFont typeface="Calibri"/>
              <a:buNone/>
            </a:pPr>
            <a:r>
              <a:rPr b="1" i="0" lang="en" sz="900" u="none" cap="none" strike="noStrike">
                <a:solidFill>
                  <a:srgbClr val="4A4A4A"/>
                </a:solidFill>
                <a:latin typeface="Calibri"/>
                <a:ea typeface="Calibri"/>
                <a:cs typeface="Calibri"/>
                <a:sym typeface="Calibri"/>
              </a:rPr>
              <a:t>30-DAY READMISSION RATE</a:t>
            </a:r>
            <a:endParaRPr b="0" i="0" sz="900" u="none" cap="none" strike="noStrike">
              <a:solidFill>
                <a:schemeClr val="dk1"/>
              </a:solidFill>
              <a:latin typeface="Calibri"/>
              <a:ea typeface="Calibri"/>
              <a:cs typeface="Calibri"/>
              <a:sym typeface="Calibri"/>
            </a:endParaRPr>
          </a:p>
        </p:txBody>
      </p:sp>
      <p:sp>
        <p:nvSpPr>
          <p:cNvPr id="176" name="Google Shape;176;p19"/>
          <p:cNvSpPr/>
          <p:nvPr/>
        </p:nvSpPr>
        <p:spPr>
          <a:xfrm>
            <a:off x="6892290" y="1200150"/>
            <a:ext cx="2023110" cy="1371600"/>
          </a:xfrm>
          <a:prstGeom prst="roundRect">
            <a:avLst>
              <a:gd fmla="val 4000" name="adj"/>
            </a:avLst>
          </a:prstGeom>
          <a:solidFill>
            <a:srgbClr val="F5F8FB"/>
          </a:solidFill>
          <a:ln>
            <a:noFill/>
          </a:ln>
          <a:effectLst>
            <a:outerShdw blurRad="63500" rotWithShape="0" algn="bl" dir="5400000" dist="25400">
              <a:srgbClr val="1A1A1A">
                <a:alpha val="10196"/>
              </a:srgbClr>
            </a:outerShdw>
          </a:effectLst>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7" name="Google Shape;177;p19"/>
          <p:cNvSpPr/>
          <p:nvPr/>
        </p:nvSpPr>
        <p:spPr>
          <a:xfrm>
            <a:off x="6892290" y="1371600"/>
            <a:ext cx="2023110" cy="65151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2A78D6"/>
              </a:buClr>
              <a:buSzPts val="3300"/>
              <a:buFont typeface="Cambria"/>
              <a:buNone/>
            </a:pPr>
            <a:r>
              <a:rPr b="1" i="0" lang="en" sz="3300" u="none" cap="none" strike="noStrike">
                <a:solidFill>
                  <a:srgbClr val="2A78D6"/>
                </a:solidFill>
                <a:latin typeface="Cambria"/>
                <a:ea typeface="Cambria"/>
                <a:cs typeface="Cambria"/>
                <a:sym typeface="Cambria"/>
              </a:rPr>
              <a:t>35%</a:t>
            </a:r>
            <a:endParaRPr b="0" i="0" sz="3300" u="none" cap="none" strike="noStrike">
              <a:solidFill>
                <a:schemeClr val="dk1"/>
              </a:solidFill>
              <a:latin typeface="Calibri"/>
              <a:ea typeface="Calibri"/>
              <a:cs typeface="Calibri"/>
              <a:sym typeface="Calibri"/>
            </a:endParaRPr>
          </a:p>
        </p:txBody>
      </p:sp>
      <p:sp>
        <p:nvSpPr>
          <p:cNvPr id="178" name="Google Shape;178;p19"/>
          <p:cNvSpPr/>
          <p:nvPr/>
        </p:nvSpPr>
        <p:spPr>
          <a:xfrm>
            <a:off x="6995160" y="2091690"/>
            <a:ext cx="1817370" cy="3429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900"/>
              <a:buFont typeface="Calibri"/>
              <a:buNone/>
            </a:pPr>
            <a:r>
              <a:rPr b="1" i="0" lang="en" sz="900" u="none" cap="none" strike="noStrike">
                <a:solidFill>
                  <a:srgbClr val="4A4A4A"/>
                </a:solidFill>
                <a:latin typeface="Calibri"/>
                <a:ea typeface="Calibri"/>
                <a:cs typeface="Calibri"/>
                <a:sym typeface="Calibri"/>
              </a:rPr>
              <a:t>HIGH-RISK PATIENTS</a:t>
            </a:r>
            <a:endParaRPr b="0" i="0" sz="900" u="none" cap="none" strike="noStrike">
              <a:solidFill>
                <a:schemeClr val="dk1"/>
              </a:solidFill>
              <a:latin typeface="Calibri"/>
              <a:ea typeface="Calibri"/>
              <a:cs typeface="Calibri"/>
              <a:sym typeface="Calibri"/>
            </a:endParaRPr>
          </a:p>
        </p:txBody>
      </p:sp>
      <p:sp>
        <p:nvSpPr>
          <p:cNvPr id="179" name="Google Shape;179;p19"/>
          <p:cNvSpPr/>
          <p:nvPr/>
        </p:nvSpPr>
        <p:spPr>
          <a:xfrm>
            <a:off x="411480" y="2777490"/>
            <a:ext cx="8298180" cy="27432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900"/>
              <a:buFont typeface="Calibri"/>
              <a:buNone/>
            </a:pPr>
            <a:r>
              <a:rPr b="0" i="1" lang="en" sz="900" u="none" cap="none" strike="noStrike">
                <a:solidFill>
                  <a:srgbClr val="898781"/>
                </a:solidFill>
                <a:latin typeface="Calibri"/>
                <a:ea typeface="Calibri"/>
                <a:cs typeface="Calibri"/>
                <a:sym typeface="Calibri"/>
              </a:rPr>
              <a:t>High risk = 3+ admissions OR a 30-day readmission — the same explainable rule used throughout the portal and dashboards.</a:t>
            </a:r>
            <a:endParaRPr b="0" i="0" sz="900" u="none" cap="none" strike="noStrike">
              <a:solidFill>
                <a:schemeClr val="dk1"/>
              </a:solidFill>
              <a:latin typeface="Calibri"/>
              <a:ea typeface="Calibri"/>
              <a:cs typeface="Calibri"/>
              <a:sym typeface="Calibri"/>
            </a:endParaRPr>
          </a:p>
        </p:txBody>
      </p:sp>
      <p:sp>
        <p:nvSpPr>
          <p:cNvPr id="180" name="Google Shape;180;p19"/>
          <p:cNvSpPr/>
          <p:nvPr/>
        </p:nvSpPr>
        <p:spPr>
          <a:xfrm>
            <a:off x="411480" y="318897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900"/>
              <a:buFont typeface="Calibri"/>
              <a:buNone/>
            </a:pPr>
            <a:r>
              <a:rPr b="1" i="0" lang="en" sz="900" u="none" cap="none" strike="noStrike">
                <a:solidFill>
                  <a:srgbClr val="2A78D6"/>
                </a:solidFill>
                <a:latin typeface="Calibri"/>
                <a:ea typeface="Calibri"/>
                <a:cs typeface="Calibri"/>
                <a:sym typeface="Calibri"/>
              </a:rPr>
              <a:t>PATIENT POPULATION SPLIT</a:t>
            </a:r>
            <a:endParaRPr b="0" i="0" sz="900" u="none" cap="none" strike="noStrike">
              <a:solidFill>
                <a:schemeClr val="dk1"/>
              </a:solidFill>
              <a:latin typeface="Calibri"/>
              <a:ea typeface="Calibri"/>
              <a:cs typeface="Calibri"/>
              <a:sym typeface="Calibri"/>
            </a:endParaRPr>
          </a:p>
        </p:txBody>
      </p:sp>
      <p:sp>
        <p:nvSpPr>
          <p:cNvPr id="181" name="Google Shape;181;p19"/>
          <p:cNvSpPr/>
          <p:nvPr/>
        </p:nvSpPr>
        <p:spPr>
          <a:xfrm>
            <a:off x="411480" y="3463290"/>
            <a:ext cx="4903470" cy="377190"/>
          </a:xfrm>
          <a:prstGeom prst="rect">
            <a:avLst/>
          </a:prstGeom>
          <a:solidFill>
            <a:srgbClr val="89878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2" name="Google Shape;182;p19"/>
          <p:cNvSpPr/>
          <p:nvPr/>
        </p:nvSpPr>
        <p:spPr>
          <a:xfrm>
            <a:off x="5314950" y="3463290"/>
            <a:ext cx="2640330" cy="377190"/>
          </a:xfrm>
          <a:prstGeom prst="rect">
            <a:avLst/>
          </a:prstGeom>
          <a:solidFill>
            <a:srgbClr val="D03B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83" name="Google Shape;183;p19"/>
          <p:cNvSpPr/>
          <p:nvPr/>
        </p:nvSpPr>
        <p:spPr>
          <a:xfrm>
            <a:off x="514350" y="3463290"/>
            <a:ext cx="469773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Standard risk — 65 patients (65%)</a:t>
            </a:r>
            <a:endParaRPr b="0" i="0" sz="900" u="none" cap="none" strike="noStrike">
              <a:solidFill>
                <a:schemeClr val="dk1"/>
              </a:solidFill>
              <a:latin typeface="Calibri"/>
              <a:ea typeface="Calibri"/>
              <a:cs typeface="Calibri"/>
              <a:sym typeface="Calibri"/>
            </a:endParaRPr>
          </a:p>
        </p:txBody>
      </p:sp>
      <p:sp>
        <p:nvSpPr>
          <p:cNvPr id="184" name="Google Shape;184;p19"/>
          <p:cNvSpPr/>
          <p:nvPr/>
        </p:nvSpPr>
        <p:spPr>
          <a:xfrm>
            <a:off x="5417820" y="3463290"/>
            <a:ext cx="243459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900"/>
              <a:buFont typeface="Calibri"/>
              <a:buNone/>
            </a:pPr>
            <a:r>
              <a:rPr b="1" i="0" lang="en" sz="900" u="none" cap="none" strike="noStrike">
                <a:solidFill>
                  <a:srgbClr val="FFFFFF"/>
                </a:solidFill>
                <a:latin typeface="Calibri"/>
                <a:ea typeface="Calibri"/>
                <a:cs typeface="Calibri"/>
                <a:sym typeface="Calibri"/>
              </a:rPr>
              <a:t>High risk — 35 (35%)</a:t>
            </a:r>
            <a:endParaRPr b="0" i="0" sz="900" u="none" cap="none" strike="noStrike">
              <a:solidFill>
                <a:schemeClr val="dk1"/>
              </a:solidFill>
              <a:latin typeface="Calibri"/>
              <a:ea typeface="Calibri"/>
              <a:cs typeface="Calibri"/>
              <a:sym typeface="Calibri"/>
            </a:endParaRPr>
          </a:p>
        </p:txBody>
      </p:sp>
      <p:sp>
        <p:nvSpPr>
          <p:cNvPr id="185" name="Google Shape;185;p19"/>
          <p:cNvSpPr/>
          <p:nvPr/>
        </p:nvSpPr>
        <p:spPr>
          <a:xfrm>
            <a:off x="411480" y="4080510"/>
            <a:ext cx="8298180" cy="61722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4A4A4A"/>
              </a:buClr>
              <a:buSzPts val="1000"/>
              <a:buFont typeface="Calibri"/>
              <a:buNone/>
            </a:pPr>
            <a:r>
              <a:rPr b="0" i="0" lang="en" sz="1000" u="none" cap="none" strike="noStrike">
                <a:solidFill>
                  <a:srgbClr val="4A4A4A"/>
                </a:solidFill>
                <a:latin typeface="Calibri"/>
                <a:ea typeface="Calibri"/>
                <a:cs typeface="Calibri"/>
                <a:sym typeface="Calibri"/>
              </a:rPr>
              <a:t>One in five admissions in this population results in a readmission within 30 days, and roughly a third of patients already meet a high-risk profile before we build any model the next three sections unpack why.</a:t>
            </a:r>
            <a:endParaRPr b="0" i="0" sz="1000" u="none" cap="none" strike="noStrike">
              <a:solidFill>
                <a:schemeClr val="dk1"/>
              </a:solidFill>
              <a:latin typeface="Calibri"/>
              <a:ea typeface="Calibri"/>
              <a:cs typeface="Calibri"/>
              <a:sym typeface="Calibri"/>
            </a:endParaRPr>
          </a:p>
        </p:txBody>
      </p:sp>
      <p:sp>
        <p:nvSpPr>
          <p:cNvPr id="186" name="Google Shape;186;p19"/>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187" name="Google Shape;187;p19"/>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4</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2" name="Shape 192"/>
        <p:cNvGrpSpPr/>
        <p:nvPr/>
      </p:nvGrpSpPr>
      <p:grpSpPr>
        <a:xfrm>
          <a:off x="0" y="0"/>
          <a:ext cx="0" cy="0"/>
          <a:chOff x="0" y="0"/>
          <a:chExt cx="0" cy="0"/>
        </a:xfrm>
      </p:grpSpPr>
      <p:sp>
        <p:nvSpPr>
          <p:cNvPr id="193" name="Google Shape;193;p20"/>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Q1 — PATIENT RISK</a:t>
            </a:r>
            <a:endParaRPr b="0" i="0" sz="1000" u="none" cap="none" strike="noStrike">
              <a:solidFill>
                <a:schemeClr val="dk1"/>
              </a:solidFill>
              <a:latin typeface="Calibri"/>
              <a:ea typeface="Calibri"/>
              <a:cs typeface="Calibri"/>
              <a:sym typeface="Calibri"/>
            </a:endParaRPr>
          </a:p>
        </p:txBody>
      </p:sp>
      <p:sp>
        <p:nvSpPr>
          <p:cNvPr id="194" name="Google Shape;194;p20"/>
          <p:cNvSpPr/>
          <p:nvPr/>
        </p:nvSpPr>
        <p:spPr>
          <a:xfrm>
            <a:off x="411480" y="445770"/>
            <a:ext cx="82981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2300"/>
              <a:buFont typeface="Cambria"/>
              <a:buNone/>
            </a:pPr>
            <a:r>
              <a:rPr b="1" i="0" lang="en" sz="2300" u="none" cap="none" strike="noStrike">
                <a:solidFill>
                  <a:srgbClr val="132A45"/>
                </a:solidFill>
                <a:latin typeface="Cambria"/>
                <a:ea typeface="Cambria"/>
                <a:cs typeface="Cambria"/>
                <a:sym typeface="Cambria"/>
              </a:rPr>
              <a:t>Which patient groups are at highest risk?</a:t>
            </a:r>
            <a:endParaRPr b="0" i="0" sz="2300" u="none" cap="none" strike="noStrike">
              <a:solidFill>
                <a:schemeClr val="dk1"/>
              </a:solidFill>
              <a:latin typeface="Calibri"/>
              <a:ea typeface="Calibri"/>
              <a:cs typeface="Calibri"/>
              <a:sym typeface="Calibri"/>
            </a:endParaRPr>
          </a:p>
        </p:txBody>
      </p:sp>
      <p:pic>
        <p:nvPicPr>
          <p:cNvPr descr="assets/tableau_risk_factors.png" id="195" name="Google Shape;195;p20"/>
          <p:cNvPicPr preferRelativeResize="0"/>
          <p:nvPr/>
        </p:nvPicPr>
        <p:blipFill rotWithShape="1">
          <a:blip r:embed="rId3">
            <a:alphaModFix/>
          </a:blip>
          <a:srcRect b="0" l="0" r="0" t="0"/>
          <a:stretch/>
        </p:blipFill>
        <p:spPr>
          <a:xfrm>
            <a:off x="342900" y="1042416"/>
            <a:ext cx="5863590" cy="3567399"/>
          </a:xfrm>
          <a:prstGeom prst="rect">
            <a:avLst/>
          </a:prstGeom>
          <a:noFill/>
          <a:ln>
            <a:noFill/>
          </a:ln>
        </p:spPr>
      </p:pic>
      <p:sp>
        <p:nvSpPr>
          <p:cNvPr id="196" name="Google Shape;196;p20"/>
          <p:cNvSpPr/>
          <p:nvPr/>
        </p:nvSpPr>
        <p:spPr>
          <a:xfrm>
            <a:off x="342900" y="1042416"/>
            <a:ext cx="5863590" cy="3567399"/>
          </a:xfrm>
          <a:prstGeom prst="rect">
            <a:avLst/>
          </a:prstGeom>
          <a:noFill/>
          <a:ln cap="flat" cmpd="sng" w="12700">
            <a:solidFill>
              <a:srgbClr val="D7DEE6"/>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97" name="Google Shape;197;p20"/>
          <p:cNvSpPr/>
          <p:nvPr/>
        </p:nvSpPr>
        <p:spPr>
          <a:xfrm>
            <a:off x="6412230" y="1062990"/>
            <a:ext cx="236601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900"/>
              <a:buFont typeface="Calibri"/>
              <a:buNone/>
            </a:pPr>
            <a:r>
              <a:rPr b="1" i="0" lang="en" sz="900" u="none" cap="none" strike="noStrike">
                <a:solidFill>
                  <a:srgbClr val="2A78D6"/>
                </a:solidFill>
                <a:latin typeface="Calibri"/>
                <a:ea typeface="Calibri"/>
                <a:cs typeface="Calibri"/>
                <a:sym typeface="Calibri"/>
              </a:rPr>
              <a:t>EXPLORE IT LIVE</a:t>
            </a:r>
            <a:endParaRPr b="0" i="0" sz="900" u="none" cap="none" strike="noStrike">
              <a:solidFill>
                <a:schemeClr val="dk1"/>
              </a:solidFill>
              <a:latin typeface="Calibri"/>
              <a:ea typeface="Calibri"/>
              <a:cs typeface="Calibri"/>
              <a:sym typeface="Calibri"/>
            </a:endParaRPr>
          </a:p>
        </p:txBody>
      </p:sp>
      <p:pic>
        <p:nvPicPr>
          <p:cNvPr descr="qr/qr_risk_factors.png" id="198" name="Google Shape;198;p20"/>
          <p:cNvPicPr preferRelativeResize="0"/>
          <p:nvPr/>
        </p:nvPicPr>
        <p:blipFill rotWithShape="1">
          <a:blip r:embed="rId4">
            <a:alphaModFix/>
          </a:blip>
          <a:srcRect b="0" l="0" r="0" t="0"/>
          <a:stretch/>
        </p:blipFill>
        <p:spPr>
          <a:xfrm>
            <a:off x="7063740" y="1303020"/>
            <a:ext cx="1062990" cy="1062990"/>
          </a:xfrm>
          <a:prstGeom prst="rect">
            <a:avLst/>
          </a:prstGeom>
          <a:noFill/>
          <a:ln>
            <a:noFill/>
          </a:ln>
        </p:spPr>
      </p:pic>
      <p:sp>
        <p:nvSpPr>
          <p:cNvPr id="199" name="Google Shape;199;p20"/>
          <p:cNvSpPr/>
          <p:nvPr/>
        </p:nvSpPr>
        <p:spPr>
          <a:xfrm>
            <a:off x="6412230" y="2400300"/>
            <a:ext cx="2366010" cy="308610"/>
          </a:xfrm>
          <a:prstGeom prst="rect">
            <a:avLst/>
          </a:prstGeom>
          <a:noFill/>
          <a:ln>
            <a:noFill/>
          </a:ln>
        </p:spPr>
        <p:txBody>
          <a:bodyPr anchorCtr="0" anchor="ctr" bIns="34275" lIns="68575" spcFirstLastPara="1" rIns="68575" wrap="square" tIns="34275">
            <a:noAutofit/>
          </a:bodyPr>
          <a:lstStyle/>
          <a:p>
            <a:pPr indent="0" lvl="0" marL="0" marR="0" rtl="0" algn="ctr">
              <a:lnSpc>
                <a:spcPct val="115000"/>
              </a:lnSpc>
              <a:spcBef>
                <a:spcPts val="0"/>
              </a:spcBef>
              <a:spcAft>
                <a:spcPts val="0"/>
              </a:spcAft>
              <a:buClr>
                <a:srgbClr val="898781"/>
              </a:buClr>
              <a:buSzPts val="800"/>
              <a:buFont typeface="Calibri"/>
              <a:buNone/>
            </a:pPr>
            <a:r>
              <a:rPr b="0" i="1" lang="en" sz="800" u="none" cap="none" strike="noStrike">
                <a:solidFill>
                  <a:srgbClr val="898781"/>
                </a:solidFill>
                <a:latin typeface="Calibri"/>
                <a:ea typeface="Calibri"/>
                <a:cs typeface="Calibri"/>
                <a:sym typeface="Calibri"/>
              </a:rPr>
              <a:t>Scan for the interactive Tableau dashboard</a:t>
            </a:r>
            <a:endParaRPr b="0" i="0" sz="800" u="none" cap="none" strike="noStrike">
              <a:solidFill>
                <a:schemeClr val="dk1"/>
              </a:solidFill>
              <a:latin typeface="Calibri"/>
              <a:ea typeface="Calibri"/>
              <a:cs typeface="Calibri"/>
              <a:sym typeface="Calibri"/>
            </a:endParaRPr>
          </a:p>
        </p:txBody>
      </p:sp>
      <p:sp>
        <p:nvSpPr>
          <p:cNvPr id="200" name="Google Shape;200;p20"/>
          <p:cNvSpPr/>
          <p:nvPr/>
        </p:nvSpPr>
        <p:spPr>
          <a:xfrm>
            <a:off x="6412230" y="2846070"/>
            <a:ext cx="2366010" cy="1062990"/>
          </a:xfrm>
          <a:prstGeom prst="roundRect">
            <a:avLst>
              <a:gd fmla="val 4516"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1" name="Google Shape;201;p20"/>
          <p:cNvSpPr/>
          <p:nvPr/>
        </p:nvSpPr>
        <p:spPr>
          <a:xfrm>
            <a:off x="6549390" y="2948940"/>
            <a:ext cx="209169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Cut off in this screenshot:</a:t>
            </a:r>
            <a:endParaRPr b="0" i="0" sz="800" u="none" cap="none" strike="noStrike">
              <a:solidFill>
                <a:schemeClr val="dk1"/>
              </a:solidFill>
              <a:latin typeface="Calibri"/>
              <a:ea typeface="Calibri"/>
              <a:cs typeface="Calibri"/>
              <a:sym typeface="Calibri"/>
            </a:endParaRPr>
          </a:p>
        </p:txBody>
      </p:sp>
      <p:sp>
        <p:nvSpPr>
          <p:cNvPr id="202" name="Google Shape;202;p20"/>
          <p:cNvSpPr/>
          <p:nvPr/>
        </p:nvSpPr>
        <p:spPr>
          <a:xfrm>
            <a:off x="6549390" y="3188970"/>
            <a:ext cx="2091690" cy="685800"/>
          </a:xfrm>
          <a:prstGeom prst="rect">
            <a:avLst/>
          </a:prstGeom>
          <a:noFill/>
          <a:ln>
            <a:noFill/>
          </a:ln>
        </p:spPr>
        <p:txBody>
          <a:bodyPr anchorCtr="0" anchor="ctr" bIns="34275" lIns="68575" spcFirstLastPara="1" rIns="68575" wrap="square" tIns="34275">
            <a:noAutofit/>
          </a:bodyPr>
          <a:lstStyle/>
          <a:p>
            <a:pPr indent="0" lvl="0" marL="0" marR="0" rtl="0" algn="l">
              <a:lnSpc>
                <a:spcPct val="13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Direct Emergency admit: </a:t>
            </a:r>
            <a:r>
              <a:rPr b="1" i="0" lang="en" sz="800" u="none" cap="none" strike="noStrike">
                <a:solidFill>
                  <a:srgbClr val="D03B3B"/>
                </a:solidFill>
                <a:latin typeface="Calibri"/>
                <a:ea typeface="Calibri"/>
                <a:cs typeface="Calibri"/>
                <a:sym typeface="Calibri"/>
              </a:rPr>
              <a:t>33.3%</a:t>
            </a:r>
            <a:r>
              <a:rPr b="0" i="0" lang="en" sz="800" u="none" cap="none" strike="noStrike">
                <a:solidFill>
                  <a:srgbClr val="4A4A4A"/>
                </a:solidFill>
                <a:latin typeface="Calibri"/>
                <a:ea typeface="Calibri"/>
                <a:cs typeface="Calibri"/>
                <a:sym typeface="Calibri"/>
              </a:rPr>
              <a:t> (highest of any admission type)</a:t>
            </a:r>
            <a:br>
              <a:rPr b="0" i="0" lang="en" sz="800" u="none" cap="none" strike="noStrike">
                <a:solidFill>
                  <a:srgbClr val="4A4A4A"/>
                </a:solidFill>
                <a:latin typeface="Calibri"/>
                <a:ea typeface="Calibri"/>
                <a:cs typeface="Calibri"/>
                <a:sym typeface="Calibri"/>
              </a:rPr>
            </a:br>
            <a:r>
              <a:rPr b="0" i="0" lang="en" sz="800" u="none" cap="none" strike="noStrike">
                <a:solidFill>
                  <a:srgbClr val="4A4A4A"/>
                </a:solidFill>
                <a:latin typeface="Calibri"/>
                <a:ea typeface="Calibri"/>
                <a:cs typeface="Calibri"/>
                <a:sym typeface="Calibri"/>
              </a:rPr>
              <a:t>Postoperative infection: </a:t>
            </a:r>
            <a:r>
              <a:rPr b="1" i="0" lang="en" sz="800" u="none" cap="none" strike="noStrike">
                <a:solidFill>
                  <a:srgbClr val="132A45"/>
                </a:solidFill>
                <a:latin typeface="Calibri"/>
                <a:ea typeface="Calibri"/>
                <a:cs typeface="Calibri"/>
                <a:sym typeface="Calibri"/>
              </a:rPr>
              <a:t>25.0%</a:t>
            </a:r>
            <a:endParaRPr b="0" i="0" sz="800" u="none" cap="none" strike="noStrike">
              <a:solidFill>
                <a:schemeClr val="dk1"/>
              </a:solidFill>
              <a:latin typeface="Calibri"/>
              <a:ea typeface="Calibri"/>
              <a:cs typeface="Calibri"/>
              <a:sym typeface="Calibri"/>
            </a:endParaRPr>
          </a:p>
        </p:txBody>
      </p:sp>
      <p:sp>
        <p:nvSpPr>
          <p:cNvPr id="203" name="Google Shape;203;p20"/>
          <p:cNvSpPr/>
          <p:nvPr/>
        </p:nvSpPr>
        <p:spPr>
          <a:xfrm>
            <a:off x="6412230" y="4046220"/>
            <a:ext cx="2366010" cy="788670"/>
          </a:xfrm>
          <a:prstGeom prst="roundRect">
            <a:avLst>
              <a:gd fmla="val 6087" name="adj"/>
            </a:avLst>
          </a:prstGeom>
          <a:solidFill>
            <a:srgbClr val="132A4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20"/>
          <p:cNvSpPr/>
          <p:nvPr/>
        </p:nvSpPr>
        <p:spPr>
          <a:xfrm>
            <a:off x="6549390" y="4046220"/>
            <a:ext cx="2091690" cy="78867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Age and insurance both matter, but neither alone Q4 shows what drives risk once they're combined.</a:t>
            </a:r>
            <a:endParaRPr b="0" i="0" sz="800" u="none" cap="none" strike="noStrike">
              <a:solidFill>
                <a:schemeClr val="dk1"/>
              </a:solidFill>
              <a:latin typeface="Calibri"/>
              <a:ea typeface="Calibri"/>
              <a:cs typeface="Calibri"/>
              <a:sym typeface="Calibri"/>
            </a:endParaRPr>
          </a:p>
        </p:txBody>
      </p:sp>
      <p:sp>
        <p:nvSpPr>
          <p:cNvPr id="205" name="Google Shape;205;p20"/>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206" name="Google Shape;206;p20"/>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5</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21"/>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Q2 — DIAGNOSIS PATTERNS</a:t>
            </a:r>
            <a:endParaRPr b="0" i="0" sz="1000" u="none" cap="none" strike="noStrike">
              <a:solidFill>
                <a:schemeClr val="dk1"/>
              </a:solidFill>
              <a:latin typeface="Calibri"/>
              <a:ea typeface="Calibri"/>
              <a:cs typeface="Calibri"/>
              <a:sym typeface="Calibri"/>
            </a:endParaRPr>
          </a:p>
        </p:txBody>
      </p:sp>
      <p:sp>
        <p:nvSpPr>
          <p:cNvPr id="213" name="Google Shape;213;p21"/>
          <p:cNvSpPr/>
          <p:nvPr/>
        </p:nvSpPr>
        <p:spPr>
          <a:xfrm>
            <a:off x="411480" y="445770"/>
            <a:ext cx="82981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2300"/>
              <a:buFont typeface="Cambria"/>
              <a:buNone/>
            </a:pPr>
            <a:r>
              <a:rPr b="1" i="0" lang="en" sz="2100" u="none" cap="none" strike="noStrike">
                <a:solidFill>
                  <a:srgbClr val="132A45"/>
                </a:solidFill>
                <a:latin typeface="Cambria"/>
                <a:ea typeface="Cambria"/>
                <a:cs typeface="Cambria"/>
                <a:sym typeface="Cambria"/>
              </a:rPr>
              <a:t>Which diagnoses are most associated with repeat admissions?</a:t>
            </a:r>
            <a:endParaRPr b="0" i="0" sz="2100" u="none" cap="none" strike="noStrike">
              <a:solidFill>
                <a:schemeClr val="dk1"/>
              </a:solidFill>
              <a:latin typeface="Calibri"/>
              <a:ea typeface="Calibri"/>
              <a:cs typeface="Calibri"/>
              <a:sym typeface="Calibri"/>
            </a:endParaRPr>
          </a:p>
        </p:txBody>
      </p:sp>
      <p:sp>
        <p:nvSpPr>
          <p:cNvPr id="214" name="Google Shape;214;p21"/>
          <p:cNvSpPr/>
          <p:nvPr/>
        </p:nvSpPr>
        <p:spPr>
          <a:xfrm>
            <a:off x="411480" y="1062990"/>
            <a:ext cx="75438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Top 10 diagnoses by volume, with 30-day readmission rate stated for each</a:t>
            </a:r>
            <a:endParaRPr b="0" i="0" sz="1000" u="none" cap="none" strike="noStrike">
              <a:solidFill>
                <a:schemeClr val="dk1"/>
              </a:solidFill>
              <a:latin typeface="Calibri"/>
              <a:ea typeface="Calibri"/>
              <a:cs typeface="Calibri"/>
              <a:sym typeface="Calibri"/>
            </a:endParaRPr>
          </a:p>
        </p:txBody>
      </p:sp>
      <p:sp>
        <p:nvSpPr>
          <p:cNvPr id="215" name="Google Shape;215;p21"/>
          <p:cNvSpPr/>
          <p:nvPr/>
        </p:nvSpPr>
        <p:spPr>
          <a:xfrm>
            <a:off x="411480" y="1481328"/>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6" name="Google Shape;216;p21"/>
          <p:cNvSpPr/>
          <p:nvPr/>
        </p:nvSpPr>
        <p:spPr>
          <a:xfrm>
            <a:off x="411480" y="1481328"/>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a:t>
            </a:r>
            <a:endParaRPr b="0" i="0" sz="1000" u="none" cap="none" strike="noStrike">
              <a:solidFill>
                <a:schemeClr val="dk1"/>
              </a:solidFill>
              <a:latin typeface="Calibri"/>
              <a:ea typeface="Calibri"/>
              <a:cs typeface="Calibri"/>
              <a:sym typeface="Calibri"/>
            </a:endParaRPr>
          </a:p>
        </p:txBody>
      </p:sp>
      <p:sp>
        <p:nvSpPr>
          <p:cNvPr id="217" name="Google Shape;217;p21"/>
          <p:cNvSpPr/>
          <p:nvPr/>
        </p:nvSpPr>
        <p:spPr>
          <a:xfrm>
            <a:off x="809244" y="1337310"/>
            <a:ext cx="2448306" cy="322601"/>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Coronary atherosclerosis</a:t>
            </a:r>
            <a:endParaRPr b="0" i="0" sz="900" u="none" cap="none" strike="noStrike">
              <a:solidFill>
                <a:schemeClr val="dk1"/>
              </a:solidFill>
              <a:latin typeface="Calibri"/>
              <a:ea typeface="Calibri"/>
              <a:cs typeface="Calibri"/>
              <a:sym typeface="Calibri"/>
            </a:endParaRPr>
          </a:p>
        </p:txBody>
      </p:sp>
      <p:sp>
        <p:nvSpPr>
          <p:cNvPr id="218" name="Google Shape;218;p21"/>
          <p:cNvSpPr/>
          <p:nvPr/>
        </p:nvSpPr>
        <p:spPr>
          <a:xfrm>
            <a:off x="809244" y="1648389"/>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7 admissions</a:t>
            </a:r>
            <a:endParaRPr b="0" i="0" sz="800" u="none" cap="none" strike="noStrike">
              <a:solidFill>
                <a:schemeClr val="dk1"/>
              </a:solidFill>
              <a:latin typeface="Calibri"/>
              <a:ea typeface="Calibri"/>
              <a:cs typeface="Calibri"/>
              <a:sym typeface="Calibri"/>
            </a:endParaRPr>
          </a:p>
        </p:txBody>
      </p:sp>
      <p:sp>
        <p:nvSpPr>
          <p:cNvPr id="219" name="Google Shape;219;p21"/>
          <p:cNvSpPr/>
          <p:nvPr/>
        </p:nvSpPr>
        <p:spPr>
          <a:xfrm>
            <a:off x="3326130" y="1501902"/>
            <a:ext cx="1062990" cy="246888"/>
          </a:xfrm>
          <a:prstGeom prst="roundRect">
            <a:avLst>
              <a:gd fmla="val 50000" name="adj"/>
            </a:avLst>
          </a:prstGeom>
          <a:solidFill>
            <a:srgbClr val="DAD8D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0" name="Google Shape;220;p21"/>
          <p:cNvSpPr/>
          <p:nvPr/>
        </p:nvSpPr>
        <p:spPr>
          <a:xfrm>
            <a:off x="3326130" y="1501902"/>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800"/>
              <a:buFont typeface="Calibri"/>
              <a:buNone/>
            </a:pPr>
            <a:r>
              <a:rPr b="1" i="0" lang="en" sz="800" u="none" cap="none" strike="noStrike">
                <a:solidFill>
                  <a:srgbClr val="4A4A4A"/>
                </a:solidFill>
                <a:latin typeface="Calibri"/>
                <a:ea typeface="Calibri"/>
                <a:cs typeface="Calibri"/>
                <a:sym typeface="Calibri"/>
              </a:rPr>
              <a:t>No readmits</a:t>
            </a:r>
            <a:endParaRPr b="0" i="0" sz="800" u="none" cap="none" strike="noStrike">
              <a:solidFill>
                <a:schemeClr val="dk1"/>
              </a:solidFill>
              <a:latin typeface="Calibri"/>
              <a:ea typeface="Calibri"/>
              <a:cs typeface="Calibri"/>
              <a:sym typeface="Calibri"/>
            </a:endParaRPr>
          </a:p>
        </p:txBody>
      </p:sp>
      <p:cxnSp>
        <p:nvCxnSpPr>
          <p:cNvPr id="221" name="Google Shape;221;p21"/>
          <p:cNvCxnSpPr/>
          <p:nvPr/>
        </p:nvCxnSpPr>
        <p:spPr>
          <a:xfrm>
            <a:off x="411480" y="1906524"/>
            <a:ext cx="3977640" cy="0"/>
          </a:xfrm>
          <a:prstGeom prst="straightConnector1">
            <a:avLst/>
          </a:prstGeom>
          <a:noFill/>
          <a:ln cap="flat" cmpd="sng" w="9525">
            <a:solidFill>
              <a:srgbClr val="E1E6EA"/>
            </a:solidFill>
            <a:prstDash val="solid"/>
            <a:round/>
            <a:headEnd len="sm" w="sm" type="none"/>
            <a:tailEnd len="sm" w="sm" type="none"/>
          </a:ln>
        </p:spPr>
      </p:cxnSp>
      <p:sp>
        <p:nvSpPr>
          <p:cNvPr id="222" name="Google Shape;222;p21"/>
          <p:cNvSpPr/>
          <p:nvPr/>
        </p:nvSpPr>
        <p:spPr>
          <a:xfrm>
            <a:off x="411480" y="2112264"/>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3" name="Google Shape;223;p21"/>
          <p:cNvSpPr/>
          <p:nvPr/>
        </p:nvSpPr>
        <p:spPr>
          <a:xfrm>
            <a:off x="411480" y="2112264"/>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2</a:t>
            </a:r>
            <a:endParaRPr b="0" i="0" sz="1000" u="none" cap="none" strike="noStrike">
              <a:solidFill>
                <a:schemeClr val="dk1"/>
              </a:solidFill>
              <a:latin typeface="Calibri"/>
              <a:ea typeface="Calibri"/>
              <a:cs typeface="Calibri"/>
              <a:sym typeface="Calibri"/>
            </a:endParaRPr>
          </a:p>
        </p:txBody>
      </p:sp>
      <p:sp>
        <p:nvSpPr>
          <p:cNvPr id="224" name="Google Shape;224;p21"/>
          <p:cNvSpPr/>
          <p:nvPr/>
        </p:nvSpPr>
        <p:spPr>
          <a:xfrm>
            <a:off x="809244" y="1968246"/>
            <a:ext cx="2448306" cy="322601"/>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Acute kidney failure</a:t>
            </a:r>
            <a:endParaRPr b="0" i="0" sz="900" u="none" cap="none" strike="noStrike">
              <a:solidFill>
                <a:schemeClr val="dk1"/>
              </a:solidFill>
              <a:latin typeface="Calibri"/>
              <a:ea typeface="Calibri"/>
              <a:cs typeface="Calibri"/>
              <a:sym typeface="Calibri"/>
            </a:endParaRPr>
          </a:p>
        </p:txBody>
      </p:sp>
      <p:sp>
        <p:nvSpPr>
          <p:cNvPr id="225" name="Google Shape;225;p21"/>
          <p:cNvSpPr/>
          <p:nvPr/>
        </p:nvSpPr>
        <p:spPr>
          <a:xfrm>
            <a:off x="809244" y="2279325"/>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7 admissions</a:t>
            </a:r>
            <a:endParaRPr b="0" i="0" sz="800" u="none" cap="none" strike="noStrike">
              <a:solidFill>
                <a:schemeClr val="dk1"/>
              </a:solidFill>
              <a:latin typeface="Calibri"/>
              <a:ea typeface="Calibri"/>
              <a:cs typeface="Calibri"/>
              <a:sym typeface="Calibri"/>
            </a:endParaRPr>
          </a:p>
        </p:txBody>
      </p:sp>
      <p:sp>
        <p:nvSpPr>
          <p:cNvPr id="226" name="Google Shape;226;p21"/>
          <p:cNvSpPr/>
          <p:nvPr/>
        </p:nvSpPr>
        <p:spPr>
          <a:xfrm>
            <a:off x="3326130" y="2132838"/>
            <a:ext cx="1062990" cy="246888"/>
          </a:xfrm>
          <a:prstGeom prst="roundRect">
            <a:avLst>
              <a:gd fmla="val 50000" name="adj"/>
            </a:avLst>
          </a:prstGeom>
          <a:solidFill>
            <a:srgbClr val="D03B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27" name="Google Shape;227;p21"/>
          <p:cNvSpPr/>
          <p:nvPr/>
        </p:nvSpPr>
        <p:spPr>
          <a:xfrm>
            <a:off x="3326130" y="2132838"/>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28.6% readmit</a:t>
            </a:r>
            <a:endParaRPr b="0" i="0" sz="800" u="none" cap="none" strike="noStrike">
              <a:solidFill>
                <a:schemeClr val="dk1"/>
              </a:solidFill>
              <a:latin typeface="Calibri"/>
              <a:ea typeface="Calibri"/>
              <a:cs typeface="Calibri"/>
              <a:sym typeface="Calibri"/>
            </a:endParaRPr>
          </a:p>
        </p:txBody>
      </p:sp>
      <p:cxnSp>
        <p:nvCxnSpPr>
          <p:cNvPr id="228" name="Google Shape;228;p21"/>
          <p:cNvCxnSpPr/>
          <p:nvPr/>
        </p:nvCxnSpPr>
        <p:spPr>
          <a:xfrm>
            <a:off x="411480" y="2537460"/>
            <a:ext cx="3977640" cy="0"/>
          </a:xfrm>
          <a:prstGeom prst="straightConnector1">
            <a:avLst/>
          </a:prstGeom>
          <a:noFill/>
          <a:ln cap="flat" cmpd="sng" w="9525">
            <a:solidFill>
              <a:srgbClr val="E1E6EA"/>
            </a:solidFill>
            <a:prstDash val="solid"/>
            <a:round/>
            <a:headEnd len="sm" w="sm" type="none"/>
            <a:tailEnd len="sm" w="sm" type="none"/>
          </a:ln>
        </p:spPr>
      </p:cxnSp>
      <p:sp>
        <p:nvSpPr>
          <p:cNvPr id="229" name="Google Shape;229;p21"/>
          <p:cNvSpPr/>
          <p:nvPr/>
        </p:nvSpPr>
        <p:spPr>
          <a:xfrm>
            <a:off x="411480" y="2743200"/>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0" name="Google Shape;230;p21"/>
          <p:cNvSpPr/>
          <p:nvPr/>
        </p:nvSpPr>
        <p:spPr>
          <a:xfrm>
            <a:off x="411480" y="2743200"/>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3</a:t>
            </a:r>
            <a:endParaRPr b="0" i="0" sz="1000" u="none" cap="none" strike="noStrike">
              <a:solidFill>
                <a:schemeClr val="dk1"/>
              </a:solidFill>
              <a:latin typeface="Calibri"/>
              <a:ea typeface="Calibri"/>
              <a:cs typeface="Calibri"/>
              <a:sym typeface="Calibri"/>
            </a:endParaRPr>
          </a:p>
        </p:txBody>
      </p:sp>
      <p:sp>
        <p:nvSpPr>
          <p:cNvPr id="231" name="Google Shape;231;p21"/>
          <p:cNvSpPr/>
          <p:nvPr/>
        </p:nvSpPr>
        <p:spPr>
          <a:xfrm>
            <a:off x="809244" y="2599182"/>
            <a:ext cx="2448306" cy="322601"/>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Systolic heart failure</a:t>
            </a:r>
            <a:endParaRPr b="0" i="0" sz="900" u="none" cap="none" strike="noStrike">
              <a:solidFill>
                <a:schemeClr val="dk1"/>
              </a:solidFill>
              <a:latin typeface="Calibri"/>
              <a:ea typeface="Calibri"/>
              <a:cs typeface="Calibri"/>
              <a:sym typeface="Calibri"/>
            </a:endParaRPr>
          </a:p>
        </p:txBody>
      </p:sp>
      <p:sp>
        <p:nvSpPr>
          <p:cNvPr id="232" name="Google Shape;232;p21"/>
          <p:cNvSpPr/>
          <p:nvPr/>
        </p:nvSpPr>
        <p:spPr>
          <a:xfrm>
            <a:off x="809244" y="2910261"/>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6 admissions</a:t>
            </a:r>
            <a:endParaRPr b="0" i="0" sz="800" u="none" cap="none" strike="noStrike">
              <a:solidFill>
                <a:schemeClr val="dk1"/>
              </a:solidFill>
              <a:latin typeface="Calibri"/>
              <a:ea typeface="Calibri"/>
              <a:cs typeface="Calibri"/>
              <a:sym typeface="Calibri"/>
            </a:endParaRPr>
          </a:p>
        </p:txBody>
      </p:sp>
      <p:sp>
        <p:nvSpPr>
          <p:cNvPr id="233" name="Google Shape;233;p21"/>
          <p:cNvSpPr/>
          <p:nvPr/>
        </p:nvSpPr>
        <p:spPr>
          <a:xfrm>
            <a:off x="3326130" y="2763774"/>
            <a:ext cx="1062990" cy="246888"/>
          </a:xfrm>
          <a:prstGeom prst="roundRect">
            <a:avLst>
              <a:gd fmla="val 50000" name="adj"/>
            </a:avLst>
          </a:prstGeom>
          <a:solidFill>
            <a:srgbClr val="DAD8D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4" name="Google Shape;234;p21"/>
          <p:cNvSpPr/>
          <p:nvPr/>
        </p:nvSpPr>
        <p:spPr>
          <a:xfrm>
            <a:off x="3326130" y="2763774"/>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800"/>
              <a:buFont typeface="Calibri"/>
              <a:buNone/>
            </a:pPr>
            <a:r>
              <a:rPr b="1" i="0" lang="en" sz="800" u="none" cap="none" strike="noStrike">
                <a:solidFill>
                  <a:srgbClr val="4A4A4A"/>
                </a:solidFill>
                <a:latin typeface="Calibri"/>
                <a:ea typeface="Calibri"/>
                <a:cs typeface="Calibri"/>
                <a:sym typeface="Calibri"/>
              </a:rPr>
              <a:t>No readmits</a:t>
            </a:r>
            <a:endParaRPr b="0" i="0" sz="800" u="none" cap="none" strike="noStrike">
              <a:solidFill>
                <a:schemeClr val="dk1"/>
              </a:solidFill>
              <a:latin typeface="Calibri"/>
              <a:ea typeface="Calibri"/>
              <a:cs typeface="Calibri"/>
              <a:sym typeface="Calibri"/>
            </a:endParaRPr>
          </a:p>
        </p:txBody>
      </p:sp>
      <p:cxnSp>
        <p:nvCxnSpPr>
          <p:cNvPr id="235" name="Google Shape;235;p21"/>
          <p:cNvCxnSpPr/>
          <p:nvPr/>
        </p:nvCxnSpPr>
        <p:spPr>
          <a:xfrm>
            <a:off x="411480" y="3168396"/>
            <a:ext cx="3977640" cy="0"/>
          </a:xfrm>
          <a:prstGeom prst="straightConnector1">
            <a:avLst/>
          </a:prstGeom>
          <a:noFill/>
          <a:ln cap="flat" cmpd="sng" w="9525">
            <a:solidFill>
              <a:srgbClr val="E1E6EA"/>
            </a:solidFill>
            <a:prstDash val="solid"/>
            <a:round/>
            <a:headEnd len="sm" w="sm" type="none"/>
            <a:tailEnd len="sm" w="sm" type="none"/>
          </a:ln>
        </p:spPr>
      </p:cxnSp>
      <p:sp>
        <p:nvSpPr>
          <p:cNvPr id="236" name="Google Shape;236;p21"/>
          <p:cNvSpPr/>
          <p:nvPr/>
        </p:nvSpPr>
        <p:spPr>
          <a:xfrm>
            <a:off x="411480" y="3374136"/>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37" name="Google Shape;237;p21"/>
          <p:cNvSpPr/>
          <p:nvPr/>
        </p:nvSpPr>
        <p:spPr>
          <a:xfrm>
            <a:off x="411480" y="3374136"/>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4</a:t>
            </a:r>
            <a:endParaRPr b="0" i="0" sz="1000" u="none" cap="none" strike="noStrike">
              <a:solidFill>
                <a:schemeClr val="dk1"/>
              </a:solidFill>
              <a:latin typeface="Calibri"/>
              <a:ea typeface="Calibri"/>
              <a:cs typeface="Calibri"/>
              <a:sym typeface="Calibri"/>
            </a:endParaRPr>
          </a:p>
        </p:txBody>
      </p:sp>
      <p:sp>
        <p:nvSpPr>
          <p:cNvPr id="238" name="Google Shape;238;p21"/>
          <p:cNvSpPr/>
          <p:nvPr/>
        </p:nvSpPr>
        <p:spPr>
          <a:xfrm>
            <a:off x="809244" y="3230118"/>
            <a:ext cx="2448306" cy="322600"/>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NSTEMI</a:t>
            </a:r>
            <a:endParaRPr b="0" i="0" sz="900" u="none" cap="none" strike="noStrike">
              <a:solidFill>
                <a:schemeClr val="dk1"/>
              </a:solidFill>
              <a:latin typeface="Calibri"/>
              <a:ea typeface="Calibri"/>
              <a:cs typeface="Calibri"/>
              <a:sym typeface="Calibri"/>
            </a:endParaRPr>
          </a:p>
        </p:txBody>
      </p:sp>
      <p:sp>
        <p:nvSpPr>
          <p:cNvPr id="239" name="Google Shape;239;p21"/>
          <p:cNvSpPr/>
          <p:nvPr/>
        </p:nvSpPr>
        <p:spPr>
          <a:xfrm>
            <a:off x="809244" y="3541197"/>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4 admissions</a:t>
            </a:r>
            <a:endParaRPr b="0" i="0" sz="800" u="none" cap="none" strike="noStrike">
              <a:solidFill>
                <a:schemeClr val="dk1"/>
              </a:solidFill>
              <a:latin typeface="Calibri"/>
              <a:ea typeface="Calibri"/>
              <a:cs typeface="Calibri"/>
              <a:sym typeface="Calibri"/>
            </a:endParaRPr>
          </a:p>
        </p:txBody>
      </p:sp>
      <p:sp>
        <p:nvSpPr>
          <p:cNvPr id="240" name="Google Shape;240;p21"/>
          <p:cNvSpPr/>
          <p:nvPr/>
        </p:nvSpPr>
        <p:spPr>
          <a:xfrm>
            <a:off x="3326130" y="3394710"/>
            <a:ext cx="1062990" cy="246888"/>
          </a:xfrm>
          <a:prstGeom prst="roundRect">
            <a:avLst>
              <a:gd fmla="val 50000" name="adj"/>
            </a:avLst>
          </a:prstGeom>
          <a:solidFill>
            <a:srgbClr val="DAD8D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1" name="Google Shape;241;p21"/>
          <p:cNvSpPr/>
          <p:nvPr/>
        </p:nvSpPr>
        <p:spPr>
          <a:xfrm>
            <a:off x="3326130" y="3394710"/>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800"/>
              <a:buFont typeface="Calibri"/>
              <a:buNone/>
            </a:pPr>
            <a:r>
              <a:rPr b="1" i="0" lang="en" sz="800" u="none" cap="none" strike="noStrike">
                <a:solidFill>
                  <a:srgbClr val="4A4A4A"/>
                </a:solidFill>
                <a:latin typeface="Calibri"/>
                <a:ea typeface="Calibri"/>
                <a:cs typeface="Calibri"/>
                <a:sym typeface="Calibri"/>
              </a:rPr>
              <a:t>No readmits</a:t>
            </a:r>
            <a:endParaRPr b="0" i="0" sz="800" u="none" cap="none" strike="noStrike">
              <a:solidFill>
                <a:schemeClr val="dk1"/>
              </a:solidFill>
              <a:latin typeface="Calibri"/>
              <a:ea typeface="Calibri"/>
              <a:cs typeface="Calibri"/>
              <a:sym typeface="Calibri"/>
            </a:endParaRPr>
          </a:p>
        </p:txBody>
      </p:sp>
      <p:cxnSp>
        <p:nvCxnSpPr>
          <p:cNvPr id="242" name="Google Shape;242;p21"/>
          <p:cNvCxnSpPr/>
          <p:nvPr/>
        </p:nvCxnSpPr>
        <p:spPr>
          <a:xfrm>
            <a:off x="411480" y="3799332"/>
            <a:ext cx="3977640" cy="0"/>
          </a:xfrm>
          <a:prstGeom prst="straightConnector1">
            <a:avLst/>
          </a:prstGeom>
          <a:noFill/>
          <a:ln cap="flat" cmpd="sng" w="9525">
            <a:solidFill>
              <a:srgbClr val="E1E6EA"/>
            </a:solidFill>
            <a:prstDash val="solid"/>
            <a:round/>
            <a:headEnd len="sm" w="sm" type="none"/>
            <a:tailEnd len="sm" w="sm" type="none"/>
          </a:ln>
        </p:spPr>
      </p:cxnSp>
      <p:sp>
        <p:nvSpPr>
          <p:cNvPr id="243" name="Google Shape;243;p21"/>
          <p:cNvSpPr/>
          <p:nvPr/>
        </p:nvSpPr>
        <p:spPr>
          <a:xfrm>
            <a:off x="411480" y="4005072"/>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4" name="Google Shape;244;p21"/>
          <p:cNvSpPr/>
          <p:nvPr/>
        </p:nvSpPr>
        <p:spPr>
          <a:xfrm>
            <a:off x="411480" y="4005072"/>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5</a:t>
            </a:r>
            <a:endParaRPr b="0" i="0" sz="1000" u="none" cap="none" strike="noStrike">
              <a:solidFill>
                <a:schemeClr val="dk1"/>
              </a:solidFill>
              <a:latin typeface="Calibri"/>
              <a:ea typeface="Calibri"/>
              <a:cs typeface="Calibri"/>
              <a:sym typeface="Calibri"/>
            </a:endParaRPr>
          </a:p>
        </p:txBody>
      </p:sp>
      <p:sp>
        <p:nvSpPr>
          <p:cNvPr id="245" name="Google Shape;245;p21"/>
          <p:cNvSpPr/>
          <p:nvPr/>
        </p:nvSpPr>
        <p:spPr>
          <a:xfrm>
            <a:off x="809244" y="3861054"/>
            <a:ext cx="2448306" cy="322600"/>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Atrial fibrillation</a:t>
            </a:r>
            <a:endParaRPr b="0" i="0" sz="900" u="none" cap="none" strike="noStrike">
              <a:solidFill>
                <a:schemeClr val="dk1"/>
              </a:solidFill>
              <a:latin typeface="Calibri"/>
              <a:ea typeface="Calibri"/>
              <a:cs typeface="Calibri"/>
              <a:sym typeface="Calibri"/>
            </a:endParaRPr>
          </a:p>
        </p:txBody>
      </p:sp>
      <p:sp>
        <p:nvSpPr>
          <p:cNvPr id="246" name="Google Shape;246;p21"/>
          <p:cNvSpPr/>
          <p:nvPr/>
        </p:nvSpPr>
        <p:spPr>
          <a:xfrm>
            <a:off x="809244" y="4172133"/>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4 admissions</a:t>
            </a:r>
            <a:endParaRPr b="0" i="0" sz="800" u="none" cap="none" strike="noStrike">
              <a:solidFill>
                <a:schemeClr val="dk1"/>
              </a:solidFill>
              <a:latin typeface="Calibri"/>
              <a:ea typeface="Calibri"/>
              <a:cs typeface="Calibri"/>
              <a:sym typeface="Calibri"/>
            </a:endParaRPr>
          </a:p>
        </p:txBody>
      </p:sp>
      <p:sp>
        <p:nvSpPr>
          <p:cNvPr id="247" name="Google Shape;247;p21"/>
          <p:cNvSpPr/>
          <p:nvPr/>
        </p:nvSpPr>
        <p:spPr>
          <a:xfrm>
            <a:off x="3326130" y="4025646"/>
            <a:ext cx="1062990" cy="246888"/>
          </a:xfrm>
          <a:prstGeom prst="roundRect">
            <a:avLst>
              <a:gd fmla="val 50000" name="adj"/>
            </a:avLst>
          </a:prstGeom>
          <a:solidFill>
            <a:srgbClr val="D03B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48" name="Google Shape;248;p21"/>
          <p:cNvSpPr/>
          <p:nvPr/>
        </p:nvSpPr>
        <p:spPr>
          <a:xfrm>
            <a:off x="3326130" y="4025646"/>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25.0% readmit</a:t>
            </a:r>
            <a:endParaRPr b="0" i="0" sz="800" u="none" cap="none" strike="noStrike">
              <a:solidFill>
                <a:schemeClr val="dk1"/>
              </a:solidFill>
              <a:latin typeface="Calibri"/>
              <a:ea typeface="Calibri"/>
              <a:cs typeface="Calibri"/>
              <a:sym typeface="Calibri"/>
            </a:endParaRPr>
          </a:p>
        </p:txBody>
      </p:sp>
      <p:cxnSp>
        <p:nvCxnSpPr>
          <p:cNvPr id="249" name="Google Shape;249;p21"/>
          <p:cNvCxnSpPr/>
          <p:nvPr/>
        </p:nvCxnSpPr>
        <p:spPr>
          <a:xfrm>
            <a:off x="411480" y="4430268"/>
            <a:ext cx="3977640" cy="0"/>
          </a:xfrm>
          <a:prstGeom prst="straightConnector1">
            <a:avLst/>
          </a:prstGeom>
          <a:noFill/>
          <a:ln cap="flat" cmpd="sng" w="9525">
            <a:solidFill>
              <a:srgbClr val="E1E6EA"/>
            </a:solidFill>
            <a:prstDash val="solid"/>
            <a:round/>
            <a:headEnd len="sm" w="sm" type="none"/>
            <a:tailEnd len="sm" w="sm" type="none"/>
          </a:ln>
        </p:spPr>
      </p:cxnSp>
      <p:sp>
        <p:nvSpPr>
          <p:cNvPr id="250" name="Google Shape;250;p21"/>
          <p:cNvSpPr/>
          <p:nvPr/>
        </p:nvSpPr>
        <p:spPr>
          <a:xfrm>
            <a:off x="4732020" y="1481328"/>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1" name="Google Shape;251;p21"/>
          <p:cNvSpPr/>
          <p:nvPr/>
        </p:nvSpPr>
        <p:spPr>
          <a:xfrm>
            <a:off x="4732020" y="1481328"/>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6</a:t>
            </a:r>
            <a:endParaRPr b="0" i="0" sz="1000" u="none" cap="none" strike="noStrike">
              <a:solidFill>
                <a:schemeClr val="dk1"/>
              </a:solidFill>
              <a:latin typeface="Calibri"/>
              <a:ea typeface="Calibri"/>
              <a:cs typeface="Calibri"/>
              <a:sym typeface="Calibri"/>
            </a:endParaRPr>
          </a:p>
        </p:txBody>
      </p:sp>
      <p:sp>
        <p:nvSpPr>
          <p:cNvPr id="252" name="Google Shape;252;p21"/>
          <p:cNvSpPr/>
          <p:nvPr/>
        </p:nvSpPr>
        <p:spPr>
          <a:xfrm>
            <a:off x="5129784" y="1337310"/>
            <a:ext cx="2448306" cy="322601"/>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Aortic valve disorder</a:t>
            </a:r>
            <a:endParaRPr b="0" i="0" sz="900" u="none" cap="none" strike="noStrike">
              <a:solidFill>
                <a:schemeClr val="dk1"/>
              </a:solidFill>
              <a:latin typeface="Calibri"/>
              <a:ea typeface="Calibri"/>
              <a:cs typeface="Calibri"/>
              <a:sym typeface="Calibri"/>
            </a:endParaRPr>
          </a:p>
        </p:txBody>
      </p:sp>
      <p:sp>
        <p:nvSpPr>
          <p:cNvPr id="253" name="Google Shape;253;p21"/>
          <p:cNvSpPr/>
          <p:nvPr/>
        </p:nvSpPr>
        <p:spPr>
          <a:xfrm>
            <a:off x="5129784" y="1648389"/>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4 admissions</a:t>
            </a:r>
            <a:endParaRPr b="0" i="0" sz="800" u="none" cap="none" strike="noStrike">
              <a:solidFill>
                <a:schemeClr val="dk1"/>
              </a:solidFill>
              <a:latin typeface="Calibri"/>
              <a:ea typeface="Calibri"/>
              <a:cs typeface="Calibri"/>
              <a:sym typeface="Calibri"/>
            </a:endParaRPr>
          </a:p>
        </p:txBody>
      </p:sp>
      <p:sp>
        <p:nvSpPr>
          <p:cNvPr id="254" name="Google Shape;254;p21"/>
          <p:cNvSpPr/>
          <p:nvPr/>
        </p:nvSpPr>
        <p:spPr>
          <a:xfrm>
            <a:off x="7646670" y="1501902"/>
            <a:ext cx="1062990" cy="246888"/>
          </a:xfrm>
          <a:prstGeom prst="roundRect">
            <a:avLst>
              <a:gd fmla="val 50000" name="adj"/>
            </a:avLst>
          </a:prstGeom>
          <a:solidFill>
            <a:srgbClr val="DAD8D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5" name="Google Shape;255;p21"/>
          <p:cNvSpPr/>
          <p:nvPr/>
        </p:nvSpPr>
        <p:spPr>
          <a:xfrm>
            <a:off x="7646670" y="1501902"/>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800"/>
              <a:buFont typeface="Calibri"/>
              <a:buNone/>
            </a:pPr>
            <a:r>
              <a:rPr b="1" i="0" lang="en" sz="800" u="none" cap="none" strike="noStrike">
                <a:solidFill>
                  <a:srgbClr val="4A4A4A"/>
                </a:solidFill>
                <a:latin typeface="Calibri"/>
                <a:ea typeface="Calibri"/>
                <a:cs typeface="Calibri"/>
                <a:sym typeface="Calibri"/>
              </a:rPr>
              <a:t>No readmits</a:t>
            </a:r>
            <a:endParaRPr b="0" i="0" sz="800" u="none" cap="none" strike="noStrike">
              <a:solidFill>
                <a:schemeClr val="dk1"/>
              </a:solidFill>
              <a:latin typeface="Calibri"/>
              <a:ea typeface="Calibri"/>
              <a:cs typeface="Calibri"/>
              <a:sym typeface="Calibri"/>
            </a:endParaRPr>
          </a:p>
        </p:txBody>
      </p:sp>
      <p:cxnSp>
        <p:nvCxnSpPr>
          <p:cNvPr id="256" name="Google Shape;256;p21"/>
          <p:cNvCxnSpPr/>
          <p:nvPr/>
        </p:nvCxnSpPr>
        <p:spPr>
          <a:xfrm>
            <a:off x="4732020" y="1906524"/>
            <a:ext cx="3977640" cy="0"/>
          </a:xfrm>
          <a:prstGeom prst="straightConnector1">
            <a:avLst/>
          </a:prstGeom>
          <a:noFill/>
          <a:ln cap="flat" cmpd="sng" w="9525">
            <a:solidFill>
              <a:srgbClr val="E1E6EA"/>
            </a:solidFill>
            <a:prstDash val="solid"/>
            <a:round/>
            <a:headEnd len="sm" w="sm" type="none"/>
            <a:tailEnd len="sm" w="sm" type="none"/>
          </a:ln>
        </p:spPr>
      </p:cxnSp>
      <p:sp>
        <p:nvSpPr>
          <p:cNvPr id="257" name="Google Shape;257;p21"/>
          <p:cNvSpPr/>
          <p:nvPr/>
        </p:nvSpPr>
        <p:spPr>
          <a:xfrm>
            <a:off x="4732020" y="2112264"/>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58" name="Google Shape;258;p21"/>
          <p:cNvSpPr/>
          <p:nvPr/>
        </p:nvSpPr>
        <p:spPr>
          <a:xfrm>
            <a:off x="4732020" y="2112264"/>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7</a:t>
            </a:r>
            <a:endParaRPr b="0" i="0" sz="1000" u="none" cap="none" strike="noStrike">
              <a:solidFill>
                <a:schemeClr val="dk1"/>
              </a:solidFill>
              <a:latin typeface="Calibri"/>
              <a:ea typeface="Calibri"/>
              <a:cs typeface="Calibri"/>
              <a:sym typeface="Calibri"/>
            </a:endParaRPr>
          </a:p>
        </p:txBody>
      </p:sp>
      <p:sp>
        <p:nvSpPr>
          <p:cNvPr id="259" name="Google Shape;259;p21"/>
          <p:cNvSpPr/>
          <p:nvPr/>
        </p:nvSpPr>
        <p:spPr>
          <a:xfrm>
            <a:off x="5129784" y="1968246"/>
            <a:ext cx="2448306" cy="322601"/>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Postoperative infection</a:t>
            </a:r>
            <a:endParaRPr b="0" i="0" sz="900" u="none" cap="none" strike="noStrike">
              <a:solidFill>
                <a:schemeClr val="dk1"/>
              </a:solidFill>
              <a:latin typeface="Calibri"/>
              <a:ea typeface="Calibri"/>
              <a:cs typeface="Calibri"/>
              <a:sym typeface="Calibri"/>
            </a:endParaRPr>
          </a:p>
        </p:txBody>
      </p:sp>
      <p:sp>
        <p:nvSpPr>
          <p:cNvPr id="260" name="Google Shape;260;p21"/>
          <p:cNvSpPr/>
          <p:nvPr/>
        </p:nvSpPr>
        <p:spPr>
          <a:xfrm>
            <a:off x="5129784" y="2279325"/>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4 admissions</a:t>
            </a:r>
            <a:endParaRPr b="0" i="0" sz="800" u="none" cap="none" strike="noStrike">
              <a:solidFill>
                <a:schemeClr val="dk1"/>
              </a:solidFill>
              <a:latin typeface="Calibri"/>
              <a:ea typeface="Calibri"/>
              <a:cs typeface="Calibri"/>
              <a:sym typeface="Calibri"/>
            </a:endParaRPr>
          </a:p>
        </p:txBody>
      </p:sp>
      <p:sp>
        <p:nvSpPr>
          <p:cNvPr id="261" name="Google Shape;261;p21"/>
          <p:cNvSpPr/>
          <p:nvPr/>
        </p:nvSpPr>
        <p:spPr>
          <a:xfrm>
            <a:off x="7646670" y="2132838"/>
            <a:ext cx="1062990" cy="246888"/>
          </a:xfrm>
          <a:prstGeom prst="roundRect">
            <a:avLst>
              <a:gd fmla="val 50000" name="adj"/>
            </a:avLst>
          </a:prstGeom>
          <a:solidFill>
            <a:srgbClr val="D03B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2" name="Google Shape;262;p21"/>
          <p:cNvSpPr/>
          <p:nvPr/>
        </p:nvSpPr>
        <p:spPr>
          <a:xfrm>
            <a:off x="7646670" y="2132838"/>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25.0% readmit</a:t>
            </a:r>
            <a:endParaRPr b="0" i="0" sz="800" u="none" cap="none" strike="noStrike">
              <a:solidFill>
                <a:schemeClr val="dk1"/>
              </a:solidFill>
              <a:latin typeface="Calibri"/>
              <a:ea typeface="Calibri"/>
              <a:cs typeface="Calibri"/>
              <a:sym typeface="Calibri"/>
            </a:endParaRPr>
          </a:p>
        </p:txBody>
      </p:sp>
      <p:cxnSp>
        <p:nvCxnSpPr>
          <p:cNvPr id="263" name="Google Shape;263;p21"/>
          <p:cNvCxnSpPr/>
          <p:nvPr/>
        </p:nvCxnSpPr>
        <p:spPr>
          <a:xfrm>
            <a:off x="4732020" y="2537460"/>
            <a:ext cx="3977640" cy="0"/>
          </a:xfrm>
          <a:prstGeom prst="straightConnector1">
            <a:avLst/>
          </a:prstGeom>
          <a:noFill/>
          <a:ln cap="flat" cmpd="sng" w="9525">
            <a:solidFill>
              <a:srgbClr val="E1E6EA"/>
            </a:solidFill>
            <a:prstDash val="solid"/>
            <a:round/>
            <a:headEnd len="sm" w="sm" type="none"/>
            <a:tailEnd len="sm" w="sm" type="none"/>
          </a:ln>
        </p:spPr>
      </p:cxnSp>
      <p:sp>
        <p:nvSpPr>
          <p:cNvPr id="264" name="Google Shape;264;p21"/>
          <p:cNvSpPr/>
          <p:nvPr/>
        </p:nvSpPr>
        <p:spPr>
          <a:xfrm>
            <a:off x="4732020" y="2743200"/>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5" name="Google Shape;265;p21"/>
          <p:cNvSpPr/>
          <p:nvPr/>
        </p:nvSpPr>
        <p:spPr>
          <a:xfrm>
            <a:off x="4732020" y="2743200"/>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8</a:t>
            </a:r>
            <a:endParaRPr b="0" i="0" sz="1000" u="none" cap="none" strike="noStrike">
              <a:solidFill>
                <a:schemeClr val="dk1"/>
              </a:solidFill>
              <a:latin typeface="Calibri"/>
              <a:ea typeface="Calibri"/>
              <a:cs typeface="Calibri"/>
              <a:sym typeface="Calibri"/>
            </a:endParaRPr>
          </a:p>
        </p:txBody>
      </p:sp>
      <p:sp>
        <p:nvSpPr>
          <p:cNvPr id="266" name="Google Shape;266;p21"/>
          <p:cNvSpPr/>
          <p:nvPr/>
        </p:nvSpPr>
        <p:spPr>
          <a:xfrm>
            <a:off x="5129784" y="2599182"/>
            <a:ext cx="2448306" cy="322601"/>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Other encephalopathy</a:t>
            </a:r>
            <a:endParaRPr b="0" i="0" sz="900" u="none" cap="none" strike="noStrike">
              <a:solidFill>
                <a:schemeClr val="dk1"/>
              </a:solidFill>
              <a:latin typeface="Calibri"/>
              <a:ea typeface="Calibri"/>
              <a:cs typeface="Calibri"/>
              <a:sym typeface="Calibri"/>
            </a:endParaRPr>
          </a:p>
        </p:txBody>
      </p:sp>
      <p:sp>
        <p:nvSpPr>
          <p:cNvPr id="267" name="Google Shape;267;p21"/>
          <p:cNvSpPr/>
          <p:nvPr/>
        </p:nvSpPr>
        <p:spPr>
          <a:xfrm>
            <a:off x="5129784" y="2910261"/>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3 admissions</a:t>
            </a:r>
            <a:endParaRPr b="0" i="0" sz="800" u="none" cap="none" strike="noStrike">
              <a:solidFill>
                <a:schemeClr val="dk1"/>
              </a:solidFill>
              <a:latin typeface="Calibri"/>
              <a:ea typeface="Calibri"/>
              <a:cs typeface="Calibri"/>
              <a:sym typeface="Calibri"/>
            </a:endParaRPr>
          </a:p>
        </p:txBody>
      </p:sp>
      <p:sp>
        <p:nvSpPr>
          <p:cNvPr id="268" name="Google Shape;268;p21"/>
          <p:cNvSpPr/>
          <p:nvPr/>
        </p:nvSpPr>
        <p:spPr>
          <a:xfrm>
            <a:off x="7646670" y="2763774"/>
            <a:ext cx="1062990" cy="246888"/>
          </a:xfrm>
          <a:prstGeom prst="roundRect">
            <a:avLst>
              <a:gd fmla="val 50000" name="adj"/>
            </a:avLst>
          </a:prstGeom>
          <a:solidFill>
            <a:srgbClr val="D03B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69" name="Google Shape;269;p21"/>
          <p:cNvSpPr/>
          <p:nvPr/>
        </p:nvSpPr>
        <p:spPr>
          <a:xfrm>
            <a:off x="7646670" y="2763774"/>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33.3% readmit</a:t>
            </a:r>
            <a:endParaRPr b="0" i="0" sz="800" u="none" cap="none" strike="noStrike">
              <a:solidFill>
                <a:schemeClr val="dk1"/>
              </a:solidFill>
              <a:latin typeface="Calibri"/>
              <a:ea typeface="Calibri"/>
              <a:cs typeface="Calibri"/>
              <a:sym typeface="Calibri"/>
            </a:endParaRPr>
          </a:p>
        </p:txBody>
      </p:sp>
      <p:cxnSp>
        <p:nvCxnSpPr>
          <p:cNvPr id="270" name="Google Shape;270;p21"/>
          <p:cNvCxnSpPr/>
          <p:nvPr/>
        </p:nvCxnSpPr>
        <p:spPr>
          <a:xfrm>
            <a:off x="4732020" y="3168396"/>
            <a:ext cx="3977640" cy="0"/>
          </a:xfrm>
          <a:prstGeom prst="straightConnector1">
            <a:avLst/>
          </a:prstGeom>
          <a:noFill/>
          <a:ln cap="flat" cmpd="sng" w="9525">
            <a:solidFill>
              <a:srgbClr val="E1E6EA"/>
            </a:solidFill>
            <a:prstDash val="solid"/>
            <a:round/>
            <a:headEnd len="sm" w="sm" type="none"/>
            <a:tailEnd len="sm" w="sm" type="none"/>
          </a:ln>
        </p:spPr>
      </p:cxnSp>
      <p:sp>
        <p:nvSpPr>
          <p:cNvPr id="271" name="Google Shape;271;p21"/>
          <p:cNvSpPr/>
          <p:nvPr/>
        </p:nvSpPr>
        <p:spPr>
          <a:xfrm>
            <a:off x="4732020" y="3374136"/>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2" name="Google Shape;272;p21"/>
          <p:cNvSpPr/>
          <p:nvPr/>
        </p:nvSpPr>
        <p:spPr>
          <a:xfrm>
            <a:off x="4732020" y="3374136"/>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9</a:t>
            </a:r>
            <a:endParaRPr b="0" i="0" sz="1000" u="none" cap="none" strike="noStrike">
              <a:solidFill>
                <a:schemeClr val="dk1"/>
              </a:solidFill>
              <a:latin typeface="Calibri"/>
              <a:ea typeface="Calibri"/>
              <a:cs typeface="Calibri"/>
              <a:sym typeface="Calibri"/>
            </a:endParaRPr>
          </a:p>
        </p:txBody>
      </p:sp>
      <p:sp>
        <p:nvSpPr>
          <p:cNvPr id="273" name="Google Shape;273;p21"/>
          <p:cNvSpPr/>
          <p:nvPr/>
        </p:nvSpPr>
        <p:spPr>
          <a:xfrm>
            <a:off x="5129784" y="3230118"/>
            <a:ext cx="2448306" cy="322600"/>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CAD with angina</a:t>
            </a:r>
            <a:endParaRPr b="0" i="0" sz="900" u="none" cap="none" strike="noStrike">
              <a:solidFill>
                <a:schemeClr val="dk1"/>
              </a:solidFill>
              <a:latin typeface="Calibri"/>
              <a:ea typeface="Calibri"/>
              <a:cs typeface="Calibri"/>
              <a:sym typeface="Calibri"/>
            </a:endParaRPr>
          </a:p>
        </p:txBody>
      </p:sp>
      <p:sp>
        <p:nvSpPr>
          <p:cNvPr id="274" name="Google Shape;274;p21"/>
          <p:cNvSpPr/>
          <p:nvPr/>
        </p:nvSpPr>
        <p:spPr>
          <a:xfrm>
            <a:off x="5129784" y="3541197"/>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3 admissions</a:t>
            </a:r>
            <a:endParaRPr b="0" i="0" sz="800" u="none" cap="none" strike="noStrike">
              <a:solidFill>
                <a:schemeClr val="dk1"/>
              </a:solidFill>
              <a:latin typeface="Calibri"/>
              <a:ea typeface="Calibri"/>
              <a:cs typeface="Calibri"/>
              <a:sym typeface="Calibri"/>
            </a:endParaRPr>
          </a:p>
        </p:txBody>
      </p:sp>
      <p:sp>
        <p:nvSpPr>
          <p:cNvPr id="275" name="Google Shape;275;p21"/>
          <p:cNvSpPr/>
          <p:nvPr/>
        </p:nvSpPr>
        <p:spPr>
          <a:xfrm>
            <a:off x="7646670" y="3394710"/>
            <a:ext cx="1062990" cy="246888"/>
          </a:xfrm>
          <a:prstGeom prst="roundRect">
            <a:avLst>
              <a:gd fmla="val 50000" name="adj"/>
            </a:avLst>
          </a:prstGeom>
          <a:solidFill>
            <a:srgbClr val="D03B3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6" name="Google Shape;276;p21"/>
          <p:cNvSpPr/>
          <p:nvPr/>
        </p:nvSpPr>
        <p:spPr>
          <a:xfrm>
            <a:off x="7646670" y="3394710"/>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33.3% readmit</a:t>
            </a:r>
            <a:endParaRPr b="0" i="0" sz="800" u="none" cap="none" strike="noStrike">
              <a:solidFill>
                <a:schemeClr val="dk1"/>
              </a:solidFill>
              <a:latin typeface="Calibri"/>
              <a:ea typeface="Calibri"/>
              <a:cs typeface="Calibri"/>
              <a:sym typeface="Calibri"/>
            </a:endParaRPr>
          </a:p>
        </p:txBody>
      </p:sp>
      <p:cxnSp>
        <p:nvCxnSpPr>
          <p:cNvPr id="277" name="Google Shape;277;p21"/>
          <p:cNvCxnSpPr/>
          <p:nvPr/>
        </p:nvCxnSpPr>
        <p:spPr>
          <a:xfrm>
            <a:off x="4732020" y="3799332"/>
            <a:ext cx="3977640" cy="0"/>
          </a:xfrm>
          <a:prstGeom prst="straightConnector1">
            <a:avLst/>
          </a:prstGeom>
          <a:noFill/>
          <a:ln cap="flat" cmpd="sng" w="9525">
            <a:solidFill>
              <a:srgbClr val="E1E6EA"/>
            </a:solidFill>
            <a:prstDash val="solid"/>
            <a:round/>
            <a:headEnd len="sm" w="sm" type="none"/>
            <a:tailEnd len="sm" w="sm" type="none"/>
          </a:ln>
        </p:spPr>
      </p:cxnSp>
      <p:sp>
        <p:nvSpPr>
          <p:cNvPr id="278" name="Google Shape;278;p21"/>
          <p:cNvSpPr/>
          <p:nvPr/>
        </p:nvSpPr>
        <p:spPr>
          <a:xfrm>
            <a:off x="4732020" y="4005072"/>
            <a:ext cx="288036" cy="28803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21"/>
          <p:cNvSpPr/>
          <p:nvPr/>
        </p:nvSpPr>
        <p:spPr>
          <a:xfrm>
            <a:off x="4732020" y="4005072"/>
            <a:ext cx="288036" cy="28803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000"/>
              <a:buFont typeface="Calibri"/>
              <a:buNone/>
            </a:pPr>
            <a:r>
              <a:rPr b="1" i="0" lang="en" sz="1000" u="none" cap="none" strike="noStrike">
                <a:solidFill>
                  <a:srgbClr val="FFFFFF"/>
                </a:solidFill>
                <a:latin typeface="Calibri"/>
                <a:ea typeface="Calibri"/>
                <a:cs typeface="Calibri"/>
                <a:sym typeface="Calibri"/>
              </a:rPr>
              <a:t>10</a:t>
            </a:r>
            <a:endParaRPr b="0" i="0" sz="1000" u="none" cap="none" strike="noStrike">
              <a:solidFill>
                <a:schemeClr val="dk1"/>
              </a:solidFill>
              <a:latin typeface="Calibri"/>
              <a:ea typeface="Calibri"/>
              <a:cs typeface="Calibri"/>
              <a:sym typeface="Calibri"/>
            </a:endParaRPr>
          </a:p>
        </p:txBody>
      </p:sp>
      <p:sp>
        <p:nvSpPr>
          <p:cNvPr id="280" name="Google Shape;280;p21"/>
          <p:cNvSpPr/>
          <p:nvPr/>
        </p:nvSpPr>
        <p:spPr>
          <a:xfrm>
            <a:off x="5129784" y="3861054"/>
            <a:ext cx="2448306" cy="322600"/>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Acute pancreatitis</a:t>
            </a:r>
            <a:endParaRPr b="0" i="0" sz="900" u="none" cap="none" strike="noStrike">
              <a:solidFill>
                <a:schemeClr val="dk1"/>
              </a:solidFill>
              <a:latin typeface="Calibri"/>
              <a:ea typeface="Calibri"/>
              <a:cs typeface="Calibri"/>
              <a:sym typeface="Calibri"/>
            </a:endParaRPr>
          </a:p>
        </p:txBody>
      </p:sp>
      <p:sp>
        <p:nvSpPr>
          <p:cNvPr id="281" name="Google Shape;281;p21"/>
          <p:cNvSpPr/>
          <p:nvPr/>
        </p:nvSpPr>
        <p:spPr>
          <a:xfrm>
            <a:off x="5129784" y="4172133"/>
            <a:ext cx="2448306" cy="264993"/>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n = 3 admissions</a:t>
            </a:r>
            <a:endParaRPr b="0" i="0" sz="800" u="none" cap="none" strike="noStrike">
              <a:solidFill>
                <a:schemeClr val="dk1"/>
              </a:solidFill>
              <a:latin typeface="Calibri"/>
              <a:ea typeface="Calibri"/>
              <a:cs typeface="Calibri"/>
              <a:sym typeface="Calibri"/>
            </a:endParaRPr>
          </a:p>
        </p:txBody>
      </p:sp>
      <p:sp>
        <p:nvSpPr>
          <p:cNvPr id="282" name="Google Shape;282;p21"/>
          <p:cNvSpPr/>
          <p:nvPr/>
        </p:nvSpPr>
        <p:spPr>
          <a:xfrm>
            <a:off x="7646670" y="4025646"/>
            <a:ext cx="1062990" cy="246888"/>
          </a:xfrm>
          <a:prstGeom prst="roundRect">
            <a:avLst>
              <a:gd fmla="val 50000" name="adj"/>
            </a:avLst>
          </a:prstGeom>
          <a:solidFill>
            <a:srgbClr val="DAD8D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3" name="Google Shape;283;p21"/>
          <p:cNvSpPr/>
          <p:nvPr/>
        </p:nvSpPr>
        <p:spPr>
          <a:xfrm>
            <a:off x="7646670" y="4025646"/>
            <a:ext cx="1062990" cy="246888"/>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4A4A4A"/>
              </a:buClr>
              <a:buSzPts val="800"/>
              <a:buFont typeface="Calibri"/>
              <a:buNone/>
            </a:pPr>
            <a:r>
              <a:rPr b="1" i="0" lang="en" sz="800" u="none" cap="none" strike="noStrike">
                <a:solidFill>
                  <a:srgbClr val="4A4A4A"/>
                </a:solidFill>
                <a:latin typeface="Calibri"/>
                <a:ea typeface="Calibri"/>
                <a:cs typeface="Calibri"/>
                <a:sym typeface="Calibri"/>
              </a:rPr>
              <a:t>No readmits</a:t>
            </a:r>
            <a:endParaRPr b="0" i="0" sz="800" u="none" cap="none" strike="noStrike">
              <a:solidFill>
                <a:schemeClr val="dk1"/>
              </a:solidFill>
              <a:latin typeface="Calibri"/>
              <a:ea typeface="Calibri"/>
              <a:cs typeface="Calibri"/>
              <a:sym typeface="Calibri"/>
            </a:endParaRPr>
          </a:p>
        </p:txBody>
      </p:sp>
      <p:cxnSp>
        <p:nvCxnSpPr>
          <p:cNvPr id="284" name="Google Shape;284;p21"/>
          <p:cNvCxnSpPr/>
          <p:nvPr/>
        </p:nvCxnSpPr>
        <p:spPr>
          <a:xfrm>
            <a:off x="4732020" y="4430268"/>
            <a:ext cx="3977640" cy="0"/>
          </a:xfrm>
          <a:prstGeom prst="straightConnector1">
            <a:avLst/>
          </a:prstGeom>
          <a:noFill/>
          <a:ln cap="flat" cmpd="sng" w="9525">
            <a:solidFill>
              <a:srgbClr val="E1E6EA"/>
            </a:solidFill>
            <a:prstDash val="solid"/>
            <a:round/>
            <a:headEnd len="sm" w="sm" type="none"/>
            <a:tailEnd len="sm" w="sm" type="none"/>
          </a:ln>
        </p:spPr>
      </p:cxnSp>
      <p:sp>
        <p:nvSpPr>
          <p:cNvPr id="285" name="Google Shape;285;p21"/>
          <p:cNvSpPr/>
          <p:nvPr/>
        </p:nvSpPr>
        <p:spPr>
          <a:xfrm>
            <a:off x="411480" y="4567440"/>
            <a:ext cx="8298300" cy="27420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800"/>
              <a:buFont typeface="Calibri"/>
              <a:buNone/>
            </a:pPr>
            <a:r>
              <a:rPr b="0" i="1" lang="en" sz="800" u="none" cap="none" strike="noStrike">
                <a:solidFill>
                  <a:srgbClr val="898781"/>
                </a:solidFill>
                <a:latin typeface="Calibri"/>
                <a:ea typeface="Calibri"/>
                <a:cs typeface="Calibri"/>
                <a:sym typeface="Calibri"/>
              </a:rPr>
              <a:t>“Other / not mapped” diagnoses are excluded, so this reflects real, named diagnoses only. Rates on the smallest bases (n=3) are directional, not statistically robust see Acute kidney failure (n=7) for the more reliable signal.</a:t>
            </a:r>
            <a:endParaRPr b="0" i="0" sz="800" u="none" cap="none" strike="noStrike">
              <a:solidFill>
                <a:schemeClr val="dk1"/>
              </a:solidFill>
              <a:latin typeface="Calibri"/>
              <a:ea typeface="Calibri"/>
              <a:cs typeface="Calibri"/>
              <a:sym typeface="Calibri"/>
            </a:endParaRPr>
          </a:p>
        </p:txBody>
      </p:sp>
      <p:sp>
        <p:nvSpPr>
          <p:cNvPr id="286" name="Google Shape;286;p21"/>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287" name="Google Shape;287;p21"/>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6</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2" name="Shape 292"/>
        <p:cNvGrpSpPr/>
        <p:nvPr/>
      </p:nvGrpSpPr>
      <p:grpSpPr>
        <a:xfrm>
          <a:off x="0" y="0"/>
          <a:ext cx="0" cy="0"/>
          <a:chOff x="0" y="0"/>
          <a:chExt cx="0" cy="0"/>
        </a:xfrm>
      </p:grpSpPr>
      <p:sp>
        <p:nvSpPr>
          <p:cNvPr id="293" name="Google Shape;293;p22"/>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Q3 — MEDICATION SAFETY</a:t>
            </a:r>
            <a:endParaRPr b="0" i="0" sz="1000" u="none" cap="none" strike="noStrike">
              <a:solidFill>
                <a:schemeClr val="dk1"/>
              </a:solidFill>
              <a:latin typeface="Calibri"/>
              <a:ea typeface="Calibri"/>
              <a:cs typeface="Calibri"/>
              <a:sym typeface="Calibri"/>
            </a:endParaRPr>
          </a:p>
        </p:txBody>
      </p:sp>
      <p:sp>
        <p:nvSpPr>
          <p:cNvPr id="294" name="Google Shape;294;p22"/>
          <p:cNvSpPr/>
          <p:nvPr/>
        </p:nvSpPr>
        <p:spPr>
          <a:xfrm>
            <a:off x="411480" y="445770"/>
            <a:ext cx="768096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900"/>
              <a:buFont typeface="Cambria"/>
              <a:buNone/>
            </a:pPr>
            <a:r>
              <a:rPr b="1" i="0" lang="en" sz="1900" u="none" cap="none" strike="noStrike">
                <a:solidFill>
                  <a:srgbClr val="132A45"/>
                </a:solidFill>
                <a:latin typeface="Cambria"/>
                <a:ea typeface="Cambria"/>
                <a:cs typeface="Cambria"/>
                <a:sym typeface="Cambria"/>
              </a:rPr>
              <a:t>Which medications have the highest reported adverse events?</a:t>
            </a:r>
            <a:endParaRPr b="0" i="0" sz="1900" u="none" cap="none" strike="noStrike">
              <a:solidFill>
                <a:schemeClr val="dk1"/>
              </a:solidFill>
              <a:latin typeface="Calibri"/>
              <a:ea typeface="Calibri"/>
              <a:cs typeface="Calibri"/>
              <a:sym typeface="Calibri"/>
            </a:endParaRPr>
          </a:p>
        </p:txBody>
      </p:sp>
      <p:sp>
        <p:nvSpPr>
          <p:cNvPr id="295" name="Google Shape;295;p22"/>
          <p:cNvSpPr/>
          <p:nvPr/>
        </p:nvSpPr>
        <p:spPr>
          <a:xfrm>
            <a:off x="8181594" y="205740"/>
            <a:ext cx="781812" cy="918972"/>
          </a:xfrm>
          <a:prstGeom prst="roundRect">
            <a:avLst>
              <a:gd fmla="val 5263" name="adj"/>
            </a:avLst>
          </a:prstGeom>
          <a:solidFill>
            <a:srgbClr val="FFFFFF"/>
          </a:solidFill>
          <a:ln cap="flat" cmpd="sng" w="12700">
            <a:solidFill>
              <a:srgbClr val="E1E6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qr/qr_medication_safety.png" id="296" name="Google Shape;296;p22"/>
          <p:cNvPicPr preferRelativeResize="0"/>
          <p:nvPr/>
        </p:nvPicPr>
        <p:blipFill rotWithShape="1">
          <a:blip r:embed="rId3">
            <a:alphaModFix/>
          </a:blip>
          <a:srcRect b="0" l="0" r="0" t="0"/>
          <a:stretch/>
        </p:blipFill>
        <p:spPr>
          <a:xfrm>
            <a:off x="8263890" y="288036"/>
            <a:ext cx="617220" cy="617220"/>
          </a:xfrm>
          <a:prstGeom prst="rect">
            <a:avLst/>
          </a:prstGeom>
          <a:noFill/>
          <a:ln>
            <a:noFill/>
          </a:ln>
        </p:spPr>
      </p:pic>
      <p:sp>
        <p:nvSpPr>
          <p:cNvPr id="297" name="Google Shape;297;p22"/>
          <p:cNvSpPr/>
          <p:nvPr/>
        </p:nvSpPr>
        <p:spPr>
          <a:xfrm>
            <a:off x="8092440" y="918972"/>
            <a:ext cx="96012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98781"/>
              </a:buClr>
              <a:buSzPts val="600"/>
              <a:buFont typeface="Calibri"/>
              <a:buNone/>
            </a:pPr>
            <a:r>
              <a:rPr b="1" i="0" lang="en" sz="600" u="none" cap="none" strike="noStrike">
                <a:solidFill>
                  <a:srgbClr val="898781"/>
                </a:solidFill>
                <a:latin typeface="Calibri"/>
                <a:ea typeface="Calibri"/>
                <a:cs typeface="Calibri"/>
                <a:sym typeface="Calibri"/>
              </a:rPr>
              <a:t>Live dashboard</a:t>
            </a:r>
            <a:endParaRPr b="0" i="0" sz="600" u="none" cap="none" strike="noStrike">
              <a:solidFill>
                <a:schemeClr val="dk1"/>
              </a:solidFill>
              <a:latin typeface="Calibri"/>
              <a:ea typeface="Calibri"/>
              <a:cs typeface="Calibri"/>
              <a:sym typeface="Calibri"/>
            </a:endParaRPr>
          </a:p>
        </p:txBody>
      </p:sp>
      <p:sp>
        <p:nvSpPr>
          <p:cNvPr id="298" name="Google Shape;298;p22"/>
          <p:cNvSpPr/>
          <p:nvPr/>
        </p:nvSpPr>
        <p:spPr>
          <a:xfrm>
            <a:off x="411480" y="1062990"/>
            <a:ext cx="404622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Top medications by report volume (distinct safety reports)</a:t>
            </a:r>
            <a:endParaRPr b="0" i="0" sz="900" u="none" cap="none" strike="noStrike">
              <a:solidFill>
                <a:schemeClr val="dk1"/>
              </a:solidFill>
              <a:latin typeface="Calibri"/>
              <a:ea typeface="Calibri"/>
              <a:cs typeface="Calibri"/>
              <a:sym typeface="Calibri"/>
            </a:endParaRPr>
          </a:p>
        </p:txBody>
      </p:sp>
      <p:sp>
        <p:nvSpPr>
          <p:cNvPr id="299" name="Google Shape;299;p22"/>
          <p:cNvSpPr/>
          <p:nvPr/>
        </p:nvSpPr>
        <p:spPr>
          <a:xfrm>
            <a:off x="411480" y="1412748"/>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0" name="Google Shape;300;p22"/>
          <p:cNvSpPr/>
          <p:nvPr/>
        </p:nvSpPr>
        <p:spPr>
          <a:xfrm>
            <a:off x="411480" y="1412748"/>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301" name="Google Shape;301;p22"/>
          <p:cNvSpPr/>
          <p:nvPr/>
        </p:nvSpPr>
        <p:spPr>
          <a:xfrm>
            <a:off x="754380" y="1337310"/>
            <a:ext cx="257175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LETAIRIS</a:t>
            </a:r>
            <a:endParaRPr b="0" i="0" sz="800" u="none" cap="none" strike="noStrike">
              <a:solidFill>
                <a:schemeClr val="dk1"/>
              </a:solidFill>
              <a:latin typeface="Calibri"/>
              <a:ea typeface="Calibri"/>
              <a:cs typeface="Calibri"/>
              <a:sym typeface="Calibri"/>
            </a:endParaRPr>
          </a:p>
        </p:txBody>
      </p:sp>
      <p:sp>
        <p:nvSpPr>
          <p:cNvPr id="302" name="Google Shape;302;p22"/>
          <p:cNvSpPr/>
          <p:nvPr/>
        </p:nvSpPr>
        <p:spPr>
          <a:xfrm>
            <a:off x="754380" y="1544696"/>
            <a:ext cx="257175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61 of 100 reports</a:t>
            </a:r>
            <a:endParaRPr b="0" i="0" sz="700" u="none" cap="none" strike="noStrike">
              <a:solidFill>
                <a:schemeClr val="dk1"/>
              </a:solidFill>
              <a:latin typeface="Calibri"/>
              <a:ea typeface="Calibri"/>
              <a:cs typeface="Calibri"/>
              <a:sym typeface="Calibri"/>
            </a:endParaRPr>
          </a:p>
        </p:txBody>
      </p:sp>
      <p:sp>
        <p:nvSpPr>
          <p:cNvPr id="303" name="Google Shape;303;p22"/>
          <p:cNvSpPr/>
          <p:nvPr/>
        </p:nvSpPr>
        <p:spPr>
          <a:xfrm>
            <a:off x="3394710" y="1419606"/>
            <a:ext cx="1062990" cy="219456"/>
          </a:xfrm>
          <a:prstGeom prst="roundRect">
            <a:avLst>
              <a:gd fmla="val 50000" name="adj"/>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4" name="Google Shape;304;p22"/>
          <p:cNvSpPr/>
          <p:nvPr/>
        </p:nvSpPr>
        <p:spPr>
          <a:xfrm>
            <a:off x="3394710" y="1419606"/>
            <a:ext cx="106299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61 of 100 (61%)</a:t>
            </a:r>
            <a:endParaRPr b="0" i="0" sz="700" u="none" cap="none" strike="noStrike">
              <a:solidFill>
                <a:schemeClr val="dk1"/>
              </a:solidFill>
              <a:latin typeface="Calibri"/>
              <a:ea typeface="Calibri"/>
              <a:cs typeface="Calibri"/>
              <a:sym typeface="Calibri"/>
            </a:endParaRPr>
          </a:p>
        </p:txBody>
      </p:sp>
      <p:cxnSp>
        <p:nvCxnSpPr>
          <p:cNvPr id="305" name="Google Shape;305;p22"/>
          <p:cNvCxnSpPr/>
          <p:nvPr/>
        </p:nvCxnSpPr>
        <p:spPr>
          <a:xfrm>
            <a:off x="411480" y="1714500"/>
            <a:ext cx="4046220" cy="0"/>
          </a:xfrm>
          <a:prstGeom prst="straightConnector1">
            <a:avLst/>
          </a:prstGeom>
          <a:noFill/>
          <a:ln cap="flat" cmpd="sng" w="9525">
            <a:solidFill>
              <a:srgbClr val="E1E6EA"/>
            </a:solidFill>
            <a:prstDash val="solid"/>
            <a:round/>
            <a:headEnd len="sm" w="sm" type="none"/>
            <a:tailEnd len="sm" w="sm" type="none"/>
          </a:ln>
        </p:spPr>
      </p:cxnSp>
      <p:sp>
        <p:nvSpPr>
          <p:cNvPr id="306" name="Google Shape;306;p22"/>
          <p:cNvSpPr/>
          <p:nvPr/>
        </p:nvSpPr>
        <p:spPr>
          <a:xfrm>
            <a:off x="411480" y="1837944"/>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07" name="Google Shape;307;p22"/>
          <p:cNvSpPr/>
          <p:nvPr/>
        </p:nvSpPr>
        <p:spPr>
          <a:xfrm>
            <a:off x="411480" y="1837944"/>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308" name="Google Shape;308;p22"/>
          <p:cNvSpPr/>
          <p:nvPr/>
        </p:nvSpPr>
        <p:spPr>
          <a:xfrm>
            <a:off x="754380" y="1762506"/>
            <a:ext cx="257175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PREDNISONE</a:t>
            </a:r>
            <a:endParaRPr b="0" i="0" sz="800" u="none" cap="none" strike="noStrike">
              <a:solidFill>
                <a:schemeClr val="dk1"/>
              </a:solidFill>
              <a:latin typeface="Calibri"/>
              <a:ea typeface="Calibri"/>
              <a:cs typeface="Calibri"/>
              <a:sym typeface="Calibri"/>
            </a:endParaRPr>
          </a:p>
        </p:txBody>
      </p:sp>
      <p:sp>
        <p:nvSpPr>
          <p:cNvPr id="309" name="Google Shape;309;p22"/>
          <p:cNvSpPr/>
          <p:nvPr/>
        </p:nvSpPr>
        <p:spPr>
          <a:xfrm>
            <a:off x="754380" y="1969892"/>
            <a:ext cx="257175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7 of 100 reports</a:t>
            </a:r>
            <a:endParaRPr b="0" i="0" sz="700" u="none" cap="none" strike="noStrike">
              <a:solidFill>
                <a:schemeClr val="dk1"/>
              </a:solidFill>
              <a:latin typeface="Calibri"/>
              <a:ea typeface="Calibri"/>
              <a:cs typeface="Calibri"/>
              <a:sym typeface="Calibri"/>
            </a:endParaRPr>
          </a:p>
        </p:txBody>
      </p:sp>
      <p:sp>
        <p:nvSpPr>
          <p:cNvPr id="310" name="Google Shape;310;p22"/>
          <p:cNvSpPr/>
          <p:nvPr/>
        </p:nvSpPr>
        <p:spPr>
          <a:xfrm>
            <a:off x="3394710" y="1844802"/>
            <a:ext cx="1062990" cy="219456"/>
          </a:xfrm>
          <a:prstGeom prst="roundRect">
            <a:avLst>
              <a:gd fmla="val 50000" name="adj"/>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1" name="Google Shape;311;p22"/>
          <p:cNvSpPr/>
          <p:nvPr/>
        </p:nvSpPr>
        <p:spPr>
          <a:xfrm>
            <a:off x="3394710" y="1844802"/>
            <a:ext cx="106299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7 of 100 (7%)</a:t>
            </a:r>
            <a:endParaRPr b="0" i="0" sz="700" u="none" cap="none" strike="noStrike">
              <a:solidFill>
                <a:schemeClr val="dk1"/>
              </a:solidFill>
              <a:latin typeface="Calibri"/>
              <a:ea typeface="Calibri"/>
              <a:cs typeface="Calibri"/>
              <a:sym typeface="Calibri"/>
            </a:endParaRPr>
          </a:p>
        </p:txBody>
      </p:sp>
      <p:cxnSp>
        <p:nvCxnSpPr>
          <p:cNvPr id="312" name="Google Shape;312;p22"/>
          <p:cNvCxnSpPr/>
          <p:nvPr/>
        </p:nvCxnSpPr>
        <p:spPr>
          <a:xfrm>
            <a:off x="411480" y="2139696"/>
            <a:ext cx="4046220" cy="0"/>
          </a:xfrm>
          <a:prstGeom prst="straightConnector1">
            <a:avLst/>
          </a:prstGeom>
          <a:noFill/>
          <a:ln cap="flat" cmpd="sng" w="9525">
            <a:solidFill>
              <a:srgbClr val="E1E6EA"/>
            </a:solidFill>
            <a:prstDash val="solid"/>
            <a:round/>
            <a:headEnd len="sm" w="sm" type="none"/>
            <a:tailEnd len="sm" w="sm" type="none"/>
          </a:ln>
        </p:spPr>
      </p:cxnSp>
      <p:sp>
        <p:nvSpPr>
          <p:cNvPr id="313" name="Google Shape;313;p22"/>
          <p:cNvSpPr/>
          <p:nvPr/>
        </p:nvSpPr>
        <p:spPr>
          <a:xfrm>
            <a:off x="411480" y="2263140"/>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4" name="Google Shape;314;p22"/>
          <p:cNvSpPr/>
          <p:nvPr/>
        </p:nvSpPr>
        <p:spPr>
          <a:xfrm>
            <a:off x="411480" y="2263140"/>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315" name="Google Shape;315;p22"/>
          <p:cNvSpPr/>
          <p:nvPr/>
        </p:nvSpPr>
        <p:spPr>
          <a:xfrm>
            <a:off x="754380" y="2187702"/>
            <a:ext cx="257175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CASODEX</a:t>
            </a:r>
            <a:endParaRPr b="0" i="0" sz="800" u="none" cap="none" strike="noStrike">
              <a:solidFill>
                <a:schemeClr val="dk1"/>
              </a:solidFill>
              <a:latin typeface="Calibri"/>
              <a:ea typeface="Calibri"/>
              <a:cs typeface="Calibri"/>
              <a:sym typeface="Calibri"/>
            </a:endParaRPr>
          </a:p>
        </p:txBody>
      </p:sp>
      <p:sp>
        <p:nvSpPr>
          <p:cNvPr id="316" name="Google Shape;316;p22"/>
          <p:cNvSpPr/>
          <p:nvPr/>
        </p:nvSpPr>
        <p:spPr>
          <a:xfrm>
            <a:off x="754380" y="2395088"/>
            <a:ext cx="257175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3 of 100 reports</a:t>
            </a:r>
            <a:endParaRPr b="0" i="0" sz="700" u="none" cap="none" strike="noStrike">
              <a:solidFill>
                <a:schemeClr val="dk1"/>
              </a:solidFill>
              <a:latin typeface="Calibri"/>
              <a:ea typeface="Calibri"/>
              <a:cs typeface="Calibri"/>
              <a:sym typeface="Calibri"/>
            </a:endParaRPr>
          </a:p>
        </p:txBody>
      </p:sp>
      <p:sp>
        <p:nvSpPr>
          <p:cNvPr id="317" name="Google Shape;317;p22"/>
          <p:cNvSpPr/>
          <p:nvPr/>
        </p:nvSpPr>
        <p:spPr>
          <a:xfrm>
            <a:off x="3394710" y="2269998"/>
            <a:ext cx="1062990" cy="219456"/>
          </a:xfrm>
          <a:prstGeom prst="roundRect">
            <a:avLst>
              <a:gd fmla="val 50000" name="adj"/>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18" name="Google Shape;318;p22"/>
          <p:cNvSpPr/>
          <p:nvPr/>
        </p:nvSpPr>
        <p:spPr>
          <a:xfrm>
            <a:off x="3394710" y="2269998"/>
            <a:ext cx="106299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3 of 100 (3%)</a:t>
            </a:r>
            <a:endParaRPr b="0" i="0" sz="700" u="none" cap="none" strike="noStrike">
              <a:solidFill>
                <a:schemeClr val="dk1"/>
              </a:solidFill>
              <a:latin typeface="Calibri"/>
              <a:ea typeface="Calibri"/>
              <a:cs typeface="Calibri"/>
              <a:sym typeface="Calibri"/>
            </a:endParaRPr>
          </a:p>
        </p:txBody>
      </p:sp>
      <p:cxnSp>
        <p:nvCxnSpPr>
          <p:cNvPr id="319" name="Google Shape;319;p22"/>
          <p:cNvCxnSpPr/>
          <p:nvPr/>
        </p:nvCxnSpPr>
        <p:spPr>
          <a:xfrm>
            <a:off x="411480" y="2564892"/>
            <a:ext cx="4046220" cy="0"/>
          </a:xfrm>
          <a:prstGeom prst="straightConnector1">
            <a:avLst/>
          </a:prstGeom>
          <a:noFill/>
          <a:ln cap="flat" cmpd="sng" w="9525">
            <a:solidFill>
              <a:srgbClr val="E1E6EA"/>
            </a:solidFill>
            <a:prstDash val="solid"/>
            <a:round/>
            <a:headEnd len="sm" w="sm" type="none"/>
            <a:tailEnd len="sm" w="sm" type="none"/>
          </a:ln>
        </p:spPr>
      </p:cxnSp>
      <p:sp>
        <p:nvSpPr>
          <p:cNvPr id="320" name="Google Shape;320;p22"/>
          <p:cNvSpPr/>
          <p:nvPr/>
        </p:nvSpPr>
        <p:spPr>
          <a:xfrm>
            <a:off x="411480" y="2688336"/>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1" name="Google Shape;321;p22"/>
          <p:cNvSpPr/>
          <p:nvPr/>
        </p:nvSpPr>
        <p:spPr>
          <a:xfrm>
            <a:off x="411480" y="2688336"/>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322" name="Google Shape;322;p22"/>
          <p:cNvSpPr/>
          <p:nvPr/>
        </p:nvSpPr>
        <p:spPr>
          <a:xfrm>
            <a:off x="754380" y="2612898"/>
            <a:ext cx="257175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7 medications</a:t>
            </a:r>
            <a:endParaRPr b="0" i="0" sz="800" u="none" cap="none" strike="noStrike">
              <a:solidFill>
                <a:schemeClr val="dk1"/>
              </a:solidFill>
              <a:latin typeface="Calibri"/>
              <a:ea typeface="Calibri"/>
              <a:cs typeface="Calibri"/>
              <a:sym typeface="Calibri"/>
            </a:endParaRPr>
          </a:p>
        </p:txBody>
      </p:sp>
      <p:sp>
        <p:nvSpPr>
          <p:cNvPr id="323" name="Google Shape;323;p22"/>
          <p:cNvSpPr/>
          <p:nvPr/>
        </p:nvSpPr>
        <p:spPr>
          <a:xfrm>
            <a:off x="754380" y="2820284"/>
            <a:ext cx="257175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incl. XANAX, LIPITOR, ASPIRIN — 2 reports each</a:t>
            </a:r>
            <a:endParaRPr b="0" i="0" sz="700" u="none" cap="none" strike="noStrike">
              <a:solidFill>
                <a:schemeClr val="dk1"/>
              </a:solidFill>
              <a:latin typeface="Calibri"/>
              <a:ea typeface="Calibri"/>
              <a:cs typeface="Calibri"/>
              <a:sym typeface="Calibri"/>
            </a:endParaRPr>
          </a:p>
        </p:txBody>
      </p:sp>
      <p:sp>
        <p:nvSpPr>
          <p:cNvPr id="324" name="Google Shape;324;p22"/>
          <p:cNvSpPr/>
          <p:nvPr/>
        </p:nvSpPr>
        <p:spPr>
          <a:xfrm>
            <a:off x="3394710" y="2695194"/>
            <a:ext cx="1062990" cy="219456"/>
          </a:xfrm>
          <a:prstGeom prst="roundRect">
            <a:avLst>
              <a:gd fmla="val 50000" name="adj"/>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5" name="Google Shape;325;p22"/>
          <p:cNvSpPr/>
          <p:nvPr/>
        </p:nvSpPr>
        <p:spPr>
          <a:xfrm>
            <a:off x="3394710" y="2695194"/>
            <a:ext cx="106299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2 of 100 (2%)</a:t>
            </a:r>
            <a:endParaRPr b="0" i="0" sz="700" u="none" cap="none" strike="noStrike">
              <a:solidFill>
                <a:schemeClr val="dk1"/>
              </a:solidFill>
              <a:latin typeface="Calibri"/>
              <a:ea typeface="Calibri"/>
              <a:cs typeface="Calibri"/>
              <a:sym typeface="Calibri"/>
            </a:endParaRPr>
          </a:p>
        </p:txBody>
      </p:sp>
      <p:cxnSp>
        <p:nvCxnSpPr>
          <p:cNvPr id="326" name="Google Shape;326;p22"/>
          <p:cNvCxnSpPr/>
          <p:nvPr/>
        </p:nvCxnSpPr>
        <p:spPr>
          <a:xfrm>
            <a:off x="411480" y="2990088"/>
            <a:ext cx="4046220" cy="0"/>
          </a:xfrm>
          <a:prstGeom prst="straightConnector1">
            <a:avLst/>
          </a:prstGeom>
          <a:noFill/>
          <a:ln cap="flat" cmpd="sng" w="9525">
            <a:solidFill>
              <a:srgbClr val="E1E6EA"/>
            </a:solidFill>
            <a:prstDash val="solid"/>
            <a:round/>
            <a:headEnd len="sm" w="sm" type="none"/>
            <a:tailEnd len="sm" w="sm" type="none"/>
          </a:ln>
        </p:spPr>
      </p:cxnSp>
      <p:sp>
        <p:nvSpPr>
          <p:cNvPr id="327" name="Google Shape;327;p22"/>
          <p:cNvSpPr/>
          <p:nvPr/>
        </p:nvSpPr>
        <p:spPr>
          <a:xfrm>
            <a:off x="411480" y="3113532"/>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28" name="Google Shape;328;p22"/>
          <p:cNvSpPr/>
          <p:nvPr/>
        </p:nvSpPr>
        <p:spPr>
          <a:xfrm>
            <a:off x="411480" y="3113532"/>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329" name="Google Shape;329;p22"/>
          <p:cNvSpPr/>
          <p:nvPr/>
        </p:nvSpPr>
        <p:spPr>
          <a:xfrm>
            <a:off x="754380" y="3038094"/>
            <a:ext cx="257175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122 other medications</a:t>
            </a:r>
            <a:endParaRPr b="0" i="0" sz="800" u="none" cap="none" strike="noStrike">
              <a:solidFill>
                <a:schemeClr val="dk1"/>
              </a:solidFill>
              <a:latin typeface="Calibri"/>
              <a:ea typeface="Calibri"/>
              <a:cs typeface="Calibri"/>
              <a:sym typeface="Calibri"/>
            </a:endParaRPr>
          </a:p>
        </p:txBody>
      </p:sp>
      <p:sp>
        <p:nvSpPr>
          <p:cNvPr id="330" name="Google Shape;330;p22"/>
          <p:cNvSpPr/>
          <p:nvPr/>
        </p:nvSpPr>
        <p:spPr>
          <a:xfrm>
            <a:off x="754380" y="3245480"/>
            <a:ext cx="257175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single-report only, out of 145 total</a:t>
            </a:r>
            <a:endParaRPr b="0" i="0" sz="700" u="none" cap="none" strike="noStrike">
              <a:solidFill>
                <a:schemeClr val="dk1"/>
              </a:solidFill>
              <a:latin typeface="Calibri"/>
              <a:ea typeface="Calibri"/>
              <a:cs typeface="Calibri"/>
              <a:sym typeface="Calibri"/>
            </a:endParaRPr>
          </a:p>
        </p:txBody>
      </p:sp>
      <p:sp>
        <p:nvSpPr>
          <p:cNvPr id="331" name="Google Shape;331;p22"/>
          <p:cNvSpPr/>
          <p:nvPr/>
        </p:nvSpPr>
        <p:spPr>
          <a:xfrm>
            <a:off x="3394710" y="3120390"/>
            <a:ext cx="1062990" cy="219456"/>
          </a:xfrm>
          <a:prstGeom prst="roundRect">
            <a:avLst>
              <a:gd fmla="val 50000" name="adj"/>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2" name="Google Shape;332;p22"/>
          <p:cNvSpPr/>
          <p:nvPr/>
        </p:nvSpPr>
        <p:spPr>
          <a:xfrm>
            <a:off x="3394710" y="3120390"/>
            <a:ext cx="106299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700"/>
              <a:buFont typeface="Calibri"/>
              <a:buNone/>
            </a:pPr>
            <a:r>
              <a:rPr b="1" i="0" lang="en" sz="700" u="none" cap="none" strike="noStrike">
                <a:solidFill>
                  <a:srgbClr val="FFFFFF"/>
                </a:solidFill>
                <a:latin typeface="Calibri"/>
                <a:ea typeface="Calibri"/>
                <a:cs typeface="Calibri"/>
                <a:sym typeface="Calibri"/>
              </a:rPr>
              <a:t>1 of 100 (1%)</a:t>
            </a:r>
            <a:endParaRPr b="0" i="0" sz="700" u="none" cap="none" strike="noStrike">
              <a:solidFill>
                <a:schemeClr val="dk1"/>
              </a:solidFill>
              <a:latin typeface="Calibri"/>
              <a:ea typeface="Calibri"/>
              <a:cs typeface="Calibri"/>
              <a:sym typeface="Calibri"/>
            </a:endParaRPr>
          </a:p>
        </p:txBody>
      </p:sp>
      <p:cxnSp>
        <p:nvCxnSpPr>
          <p:cNvPr id="333" name="Google Shape;333;p22"/>
          <p:cNvCxnSpPr/>
          <p:nvPr/>
        </p:nvCxnSpPr>
        <p:spPr>
          <a:xfrm>
            <a:off x="411480" y="3415284"/>
            <a:ext cx="4046220" cy="0"/>
          </a:xfrm>
          <a:prstGeom prst="straightConnector1">
            <a:avLst/>
          </a:prstGeom>
          <a:noFill/>
          <a:ln cap="flat" cmpd="sng" w="9525">
            <a:solidFill>
              <a:srgbClr val="E1E6EA"/>
            </a:solidFill>
            <a:prstDash val="solid"/>
            <a:round/>
            <a:headEnd len="sm" w="sm" type="none"/>
            <a:tailEnd len="sm" w="sm" type="none"/>
          </a:ln>
        </p:spPr>
      </p:cxnSp>
      <p:sp>
        <p:nvSpPr>
          <p:cNvPr id="334" name="Google Shape;334;p22"/>
          <p:cNvSpPr/>
          <p:nvPr/>
        </p:nvSpPr>
        <p:spPr>
          <a:xfrm>
            <a:off x="4732020" y="1062990"/>
            <a:ext cx="397764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Most reported adverse reactions (distinct safety reports)</a:t>
            </a:r>
            <a:endParaRPr b="0" i="0" sz="900" u="none" cap="none" strike="noStrike">
              <a:solidFill>
                <a:schemeClr val="dk1"/>
              </a:solidFill>
              <a:latin typeface="Calibri"/>
              <a:ea typeface="Calibri"/>
              <a:cs typeface="Calibri"/>
              <a:sym typeface="Calibri"/>
            </a:endParaRPr>
          </a:p>
        </p:txBody>
      </p:sp>
      <p:sp>
        <p:nvSpPr>
          <p:cNvPr id="335" name="Google Shape;335;p22"/>
          <p:cNvSpPr/>
          <p:nvPr/>
        </p:nvSpPr>
        <p:spPr>
          <a:xfrm>
            <a:off x="4732020" y="1412748"/>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36" name="Google Shape;336;p22"/>
          <p:cNvSpPr/>
          <p:nvPr/>
        </p:nvSpPr>
        <p:spPr>
          <a:xfrm>
            <a:off x="4732020" y="1412748"/>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1</a:t>
            </a:r>
            <a:endParaRPr b="0" i="0" sz="800" u="none" cap="none" strike="noStrike">
              <a:solidFill>
                <a:schemeClr val="dk1"/>
              </a:solidFill>
              <a:latin typeface="Calibri"/>
              <a:ea typeface="Calibri"/>
              <a:cs typeface="Calibri"/>
              <a:sym typeface="Calibri"/>
            </a:endParaRPr>
          </a:p>
        </p:txBody>
      </p:sp>
      <p:sp>
        <p:nvSpPr>
          <p:cNvPr id="337" name="Google Shape;337;p22"/>
          <p:cNvSpPr/>
          <p:nvPr/>
        </p:nvSpPr>
        <p:spPr>
          <a:xfrm>
            <a:off x="5074920" y="1337310"/>
            <a:ext cx="270891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Dyspnoea</a:t>
            </a:r>
            <a:endParaRPr b="0" i="0" sz="800" u="none" cap="none" strike="noStrike">
              <a:solidFill>
                <a:schemeClr val="dk1"/>
              </a:solidFill>
              <a:latin typeface="Calibri"/>
              <a:ea typeface="Calibri"/>
              <a:cs typeface="Calibri"/>
              <a:sym typeface="Calibri"/>
            </a:endParaRPr>
          </a:p>
        </p:txBody>
      </p:sp>
      <p:sp>
        <p:nvSpPr>
          <p:cNvPr id="338" name="Google Shape;338;p22"/>
          <p:cNvSpPr/>
          <p:nvPr/>
        </p:nvSpPr>
        <p:spPr>
          <a:xfrm>
            <a:off x="5074920" y="1544696"/>
            <a:ext cx="270891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shortness of breath</a:t>
            </a:r>
            <a:endParaRPr b="0" i="0" sz="700" u="none" cap="none" strike="noStrike">
              <a:solidFill>
                <a:schemeClr val="dk1"/>
              </a:solidFill>
              <a:latin typeface="Calibri"/>
              <a:ea typeface="Calibri"/>
              <a:cs typeface="Calibri"/>
              <a:sym typeface="Calibri"/>
            </a:endParaRPr>
          </a:p>
        </p:txBody>
      </p:sp>
      <p:sp>
        <p:nvSpPr>
          <p:cNvPr id="339" name="Google Shape;339;p22"/>
          <p:cNvSpPr/>
          <p:nvPr/>
        </p:nvSpPr>
        <p:spPr>
          <a:xfrm>
            <a:off x="7852410" y="1419606"/>
            <a:ext cx="925830" cy="219456"/>
          </a:xfrm>
          <a:prstGeom prst="roundRect">
            <a:avLst>
              <a:gd fmla="val 50000" name="adj"/>
            </a:avLst>
          </a:prstGeom>
          <a:solidFill>
            <a:srgbClr val="FAB21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0" name="Google Shape;340;p22"/>
          <p:cNvSpPr/>
          <p:nvPr/>
        </p:nvSpPr>
        <p:spPr>
          <a:xfrm>
            <a:off x="7852410" y="1419606"/>
            <a:ext cx="92583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A1A1A"/>
              </a:buClr>
              <a:buSzPts val="700"/>
              <a:buFont typeface="Calibri"/>
              <a:buNone/>
            </a:pPr>
            <a:r>
              <a:rPr b="1" i="0" lang="en" sz="700" u="none" cap="none" strike="noStrike">
                <a:solidFill>
                  <a:srgbClr val="1A1A1A"/>
                </a:solidFill>
                <a:latin typeface="Calibri"/>
                <a:ea typeface="Calibri"/>
                <a:cs typeface="Calibri"/>
                <a:sym typeface="Calibri"/>
              </a:rPr>
              <a:t>11 reports</a:t>
            </a:r>
            <a:endParaRPr b="0" i="0" sz="700" u="none" cap="none" strike="noStrike">
              <a:solidFill>
                <a:schemeClr val="dk1"/>
              </a:solidFill>
              <a:latin typeface="Calibri"/>
              <a:ea typeface="Calibri"/>
              <a:cs typeface="Calibri"/>
              <a:sym typeface="Calibri"/>
            </a:endParaRPr>
          </a:p>
        </p:txBody>
      </p:sp>
      <p:cxnSp>
        <p:nvCxnSpPr>
          <p:cNvPr id="341" name="Google Shape;341;p22"/>
          <p:cNvCxnSpPr/>
          <p:nvPr/>
        </p:nvCxnSpPr>
        <p:spPr>
          <a:xfrm>
            <a:off x="4732020" y="1714500"/>
            <a:ext cx="4046220" cy="0"/>
          </a:xfrm>
          <a:prstGeom prst="straightConnector1">
            <a:avLst/>
          </a:prstGeom>
          <a:noFill/>
          <a:ln cap="flat" cmpd="sng" w="9525">
            <a:solidFill>
              <a:srgbClr val="E1E6EA"/>
            </a:solidFill>
            <a:prstDash val="solid"/>
            <a:round/>
            <a:headEnd len="sm" w="sm" type="none"/>
            <a:tailEnd len="sm" w="sm" type="none"/>
          </a:ln>
        </p:spPr>
      </p:cxnSp>
      <p:sp>
        <p:nvSpPr>
          <p:cNvPr id="342" name="Google Shape;342;p22"/>
          <p:cNvSpPr/>
          <p:nvPr/>
        </p:nvSpPr>
        <p:spPr>
          <a:xfrm>
            <a:off x="4732020" y="1837944"/>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3" name="Google Shape;343;p22"/>
          <p:cNvSpPr/>
          <p:nvPr/>
        </p:nvSpPr>
        <p:spPr>
          <a:xfrm>
            <a:off x="4732020" y="1837944"/>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2</a:t>
            </a:r>
            <a:endParaRPr b="0" i="0" sz="800" u="none" cap="none" strike="noStrike">
              <a:solidFill>
                <a:schemeClr val="dk1"/>
              </a:solidFill>
              <a:latin typeface="Calibri"/>
              <a:ea typeface="Calibri"/>
              <a:cs typeface="Calibri"/>
              <a:sym typeface="Calibri"/>
            </a:endParaRPr>
          </a:p>
        </p:txBody>
      </p:sp>
      <p:sp>
        <p:nvSpPr>
          <p:cNvPr id="344" name="Google Shape;344;p22"/>
          <p:cNvSpPr/>
          <p:nvPr/>
        </p:nvSpPr>
        <p:spPr>
          <a:xfrm>
            <a:off x="5074920" y="1762506"/>
            <a:ext cx="270891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Headache</a:t>
            </a:r>
            <a:endParaRPr b="0" i="0" sz="800" u="none" cap="none" strike="noStrike">
              <a:solidFill>
                <a:schemeClr val="dk1"/>
              </a:solidFill>
              <a:latin typeface="Calibri"/>
              <a:ea typeface="Calibri"/>
              <a:cs typeface="Calibri"/>
              <a:sym typeface="Calibri"/>
            </a:endParaRPr>
          </a:p>
        </p:txBody>
      </p:sp>
      <p:sp>
        <p:nvSpPr>
          <p:cNvPr id="345" name="Google Shape;345;p22"/>
          <p:cNvSpPr/>
          <p:nvPr/>
        </p:nvSpPr>
        <p:spPr>
          <a:xfrm>
            <a:off x="5074920" y="1969892"/>
            <a:ext cx="270891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8 of 100 reports</a:t>
            </a:r>
            <a:endParaRPr b="0" i="0" sz="700" u="none" cap="none" strike="noStrike">
              <a:solidFill>
                <a:schemeClr val="dk1"/>
              </a:solidFill>
              <a:latin typeface="Calibri"/>
              <a:ea typeface="Calibri"/>
              <a:cs typeface="Calibri"/>
              <a:sym typeface="Calibri"/>
            </a:endParaRPr>
          </a:p>
        </p:txBody>
      </p:sp>
      <p:sp>
        <p:nvSpPr>
          <p:cNvPr id="346" name="Google Shape;346;p22"/>
          <p:cNvSpPr/>
          <p:nvPr/>
        </p:nvSpPr>
        <p:spPr>
          <a:xfrm>
            <a:off x="7852410" y="1844802"/>
            <a:ext cx="925830" cy="219456"/>
          </a:xfrm>
          <a:prstGeom prst="roundRect">
            <a:avLst>
              <a:gd fmla="val 50000" name="adj"/>
            </a:avLst>
          </a:prstGeom>
          <a:solidFill>
            <a:srgbClr val="FAB21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7" name="Google Shape;347;p22"/>
          <p:cNvSpPr/>
          <p:nvPr/>
        </p:nvSpPr>
        <p:spPr>
          <a:xfrm>
            <a:off x="7852410" y="1844802"/>
            <a:ext cx="92583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A1A1A"/>
              </a:buClr>
              <a:buSzPts val="700"/>
              <a:buFont typeface="Calibri"/>
              <a:buNone/>
            </a:pPr>
            <a:r>
              <a:rPr b="1" i="0" lang="en" sz="700" u="none" cap="none" strike="noStrike">
                <a:solidFill>
                  <a:srgbClr val="1A1A1A"/>
                </a:solidFill>
                <a:latin typeface="Calibri"/>
                <a:ea typeface="Calibri"/>
                <a:cs typeface="Calibri"/>
                <a:sym typeface="Calibri"/>
              </a:rPr>
              <a:t>8 reports</a:t>
            </a:r>
            <a:endParaRPr b="0" i="0" sz="700" u="none" cap="none" strike="noStrike">
              <a:solidFill>
                <a:schemeClr val="dk1"/>
              </a:solidFill>
              <a:latin typeface="Calibri"/>
              <a:ea typeface="Calibri"/>
              <a:cs typeface="Calibri"/>
              <a:sym typeface="Calibri"/>
            </a:endParaRPr>
          </a:p>
        </p:txBody>
      </p:sp>
      <p:cxnSp>
        <p:nvCxnSpPr>
          <p:cNvPr id="348" name="Google Shape;348;p22"/>
          <p:cNvCxnSpPr/>
          <p:nvPr/>
        </p:nvCxnSpPr>
        <p:spPr>
          <a:xfrm>
            <a:off x="4732020" y="2139696"/>
            <a:ext cx="4046220" cy="0"/>
          </a:xfrm>
          <a:prstGeom prst="straightConnector1">
            <a:avLst/>
          </a:prstGeom>
          <a:noFill/>
          <a:ln cap="flat" cmpd="sng" w="9525">
            <a:solidFill>
              <a:srgbClr val="E1E6EA"/>
            </a:solidFill>
            <a:prstDash val="solid"/>
            <a:round/>
            <a:headEnd len="sm" w="sm" type="none"/>
            <a:tailEnd len="sm" w="sm" type="none"/>
          </a:ln>
        </p:spPr>
      </p:cxnSp>
      <p:sp>
        <p:nvSpPr>
          <p:cNvPr id="349" name="Google Shape;349;p22"/>
          <p:cNvSpPr/>
          <p:nvPr/>
        </p:nvSpPr>
        <p:spPr>
          <a:xfrm>
            <a:off x="4732020" y="2263140"/>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22"/>
          <p:cNvSpPr/>
          <p:nvPr/>
        </p:nvSpPr>
        <p:spPr>
          <a:xfrm>
            <a:off x="4732020" y="2263140"/>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3</a:t>
            </a:r>
            <a:endParaRPr b="0" i="0" sz="800" u="none" cap="none" strike="noStrike">
              <a:solidFill>
                <a:schemeClr val="dk1"/>
              </a:solidFill>
              <a:latin typeface="Calibri"/>
              <a:ea typeface="Calibri"/>
              <a:cs typeface="Calibri"/>
              <a:sym typeface="Calibri"/>
            </a:endParaRPr>
          </a:p>
        </p:txBody>
      </p:sp>
      <p:sp>
        <p:nvSpPr>
          <p:cNvPr id="351" name="Google Shape;351;p22"/>
          <p:cNvSpPr/>
          <p:nvPr/>
        </p:nvSpPr>
        <p:spPr>
          <a:xfrm>
            <a:off x="5074920" y="2187702"/>
            <a:ext cx="270891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Diarrhoea</a:t>
            </a:r>
            <a:endParaRPr b="0" i="0" sz="800" u="none" cap="none" strike="noStrike">
              <a:solidFill>
                <a:schemeClr val="dk1"/>
              </a:solidFill>
              <a:latin typeface="Calibri"/>
              <a:ea typeface="Calibri"/>
              <a:cs typeface="Calibri"/>
              <a:sym typeface="Calibri"/>
            </a:endParaRPr>
          </a:p>
        </p:txBody>
      </p:sp>
      <p:sp>
        <p:nvSpPr>
          <p:cNvPr id="352" name="Google Shape;352;p22"/>
          <p:cNvSpPr/>
          <p:nvPr/>
        </p:nvSpPr>
        <p:spPr>
          <a:xfrm>
            <a:off x="5074920" y="2395088"/>
            <a:ext cx="270891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6 of 100 reports</a:t>
            </a:r>
            <a:endParaRPr b="0" i="0" sz="700" u="none" cap="none" strike="noStrike">
              <a:solidFill>
                <a:schemeClr val="dk1"/>
              </a:solidFill>
              <a:latin typeface="Calibri"/>
              <a:ea typeface="Calibri"/>
              <a:cs typeface="Calibri"/>
              <a:sym typeface="Calibri"/>
            </a:endParaRPr>
          </a:p>
        </p:txBody>
      </p:sp>
      <p:sp>
        <p:nvSpPr>
          <p:cNvPr id="353" name="Google Shape;353;p22"/>
          <p:cNvSpPr/>
          <p:nvPr/>
        </p:nvSpPr>
        <p:spPr>
          <a:xfrm>
            <a:off x="7852410" y="2269998"/>
            <a:ext cx="925830" cy="219456"/>
          </a:xfrm>
          <a:prstGeom prst="roundRect">
            <a:avLst>
              <a:gd fmla="val 50000" name="adj"/>
            </a:avLst>
          </a:prstGeom>
          <a:solidFill>
            <a:srgbClr val="FAB21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4" name="Google Shape;354;p22"/>
          <p:cNvSpPr/>
          <p:nvPr/>
        </p:nvSpPr>
        <p:spPr>
          <a:xfrm>
            <a:off x="7852410" y="2269998"/>
            <a:ext cx="92583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A1A1A"/>
              </a:buClr>
              <a:buSzPts val="700"/>
              <a:buFont typeface="Calibri"/>
              <a:buNone/>
            </a:pPr>
            <a:r>
              <a:rPr b="1" i="0" lang="en" sz="700" u="none" cap="none" strike="noStrike">
                <a:solidFill>
                  <a:srgbClr val="1A1A1A"/>
                </a:solidFill>
                <a:latin typeface="Calibri"/>
                <a:ea typeface="Calibri"/>
                <a:cs typeface="Calibri"/>
                <a:sym typeface="Calibri"/>
              </a:rPr>
              <a:t>6 reports</a:t>
            </a:r>
            <a:endParaRPr b="0" i="0" sz="700" u="none" cap="none" strike="noStrike">
              <a:solidFill>
                <a:schemeClr val="dk1"/>
              </a:solidFill>
              <a:latin typeface="Calibri"/>
              <a:ea typeface="Calibri"/>
              <a:cs typeface="Calibri"/>
              <a:sym typeface="Calibri"/>
            </a:endParaRPr>
          </a:p>
        </p:txBody>
      </p:sp>
      <p:cxnSp>
        <p:nvCxnSpPr>
          <p:cNvPr id="355" name="Google Shape;355;p22"/>
          <p:cNvCxnSpPr/>
          <p:nvPr/>
        </p:nvCxnSpPr>
        <p:spPr>
          <a:xfrm>
            <a:off x="4732020" y="2564892"/>
            <a:ext cx="4046220" cy="0"/>
          </a:xfrm>
          <a:prstGeom prst="straightConnector1">
            <a:avLst/>
          </a:prstGeom>
          <a:noFill/>
          <a:ln cap="flat" cmpd="sng" w="9525">
            <a:solidFill>
              <a:srgbClr val="E1E6EA"/>
            </a:solidFill>
            <a:prstDash val="solid"/>
            <a:round/>
            <a:headEnd len="sm" w="sm" type="none"/>
            <a:tailEnd len="sm" w="sm" type="none"/>
          </a:ln>
        </p:spPr>
      </p:cxnSp>
      <p:sp>
        <p:nvSpPr>
          <p:cNvPr id="356" name="Google Shape;356;p22"/>
          <p:cNvSpPr/>
          <p:nvPr/>
        </p:nvSpPr>
        <p:spPr>
          <a:xfrm>
            <a:off x="4732020" y="2688336"/>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7" name="Google Shape;357;p22"/>
          <p:cNvSpPr/>
          <p:nvPr/>
        </p:nvSpPr>
        <p:spPr>
          <a:xfrm>
            <a:off x="4732020" y="2688336"/>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4</a:t>
            </a:r>
            <a:endParaRPr b="0" i="0" sz="800" u="none" cap="none" strike="noStrike">
              <a:solidFill>
                <a:schemeClr val="dk1"/>
              </a:solidFill>
              <a:latin typeface="Calibri"/>
              <a:ea typeface="Calibri"/>
              <a:cs typeface="Calibri"/>
              <a:sym typeface="Calibri"/>
            </a:endParaRPr>
          </a:p>
        </p:txBody>
      </p:sp>
      <p:sp>
        <p:nvSpPr>
          <p:cNvPr id="358" name="Google Shape;358;p22"/>
          <p:cNvSpPr/>
          <p:nvPr/>
        </p:nvSpPr>
        <p:spPr>
          <a:xfrm>
            <a:off x="5074920" y="2612898"/>
            <a:ext cx="270891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Unevaluable Event</a:t>
            </a:r>
            <a:endParaRPr b="0" i="0" sz="800" u="none" cap="none" strike="noStrike">
              <a:solidFill>
                <a:schemeClr val="dk1"/>
              </a:solidFill>
              <a:latin typeface="Calibri"/>
              <a:ea typeface="Calibri"/>
              <a:cs typeface="Calibri"/>
              <a:sym typeface="Calibri"/>
            </a:endParaRPr>
          </a:p>
        </p:txBody>
      </p:sp>
      <p:sp>
        <p:nvSpPr>
          <p:cNvPr id="359" name="Google Shape;359;p22"/>
          <p:cNvSpPr/>
          <p:nvPr/>
        </p:nvSpPr>
        <p:spPr>
          <a:xfrm>
            <a:off x="5074920" y="2820284"/>
            <a:ext cx="270891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reaction not further specified</a:t>
            </a:r>
            <a:endParaRPr b="0" i="0" sz="700" u="none" cap="none" strike="noStrike">
              <a:solidFill>
                <a:schemeClr val="dk1"/>
              </a:solidFill>
              <a:latin typeface="Calibri"/>
              <a:ea typeface="Calibri"/>
              <a:cs typeface="Calibri"/>
              <a:sym typeface="Calibri"/>
            </a:endParaRPr>
          </a:p>
        </p:txBody>
      </p:sp>
      <p:sp>
        <p:nvSpPr>
          <p:cNvPr id="360" name="Google Shape;360;p22"/>
          <p:cNvSpPr/>
          <p:nvPr/>
        </p:nvSpPr>
        <p:spPr>
          <a:xfrm>
            <a:off x="7852410" y="2695194"/>
            <a:ext cx="925830" cy="219456"/>
          </a:xfrm>
          <a:prstGeom prst="roundRect">
            <a:avLst>
              <a:gd fmla="val 50000" name="adj"/>
            </a:avLst>
          </a:prstGeom>
          <a:solidFill>
            <a:srgbClr val="FAB21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1" name="Google Shape;361;p22"/>
          <p:cNvSpPr/>
          <p:nvPr/>
        </p:nvSpPr>
        <p:spPr>
          <a:xfrm>
            <a:off x="7852410" y="2695194"/>
            <a:ext cx="92583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A1A1A"/>
              </a:buClr>
              <a:buSzPts val="700"/>
              <a:buFont typeface="Calibri"/>
              <a:buNone/>
            </a:pPr>
            <a:r>
              <a:rPr b="1" i="0" lang="en" sz="700" u="none" cap="none" strike="noStrike">
                <a:solidFill>
                  <a:srgbClr val="1A1A1A"/>
                </a:solidFill>
                <a:latin typeface="Calibri"/>
                <a:ea typeface="Calibri"/>
                <a:cs typeface="Calibri"/>
                <a:sym typeface="Calibri"/>
              </a:rPr>
              <a:t>6 reports</a:t>
            </a:r>
            <a:endParaRPr b="0" i="0" sz="700" u="none" cap="none" strike="noStrike">
              <a:solidFill>
                <a:schemeClr val="dk1"/>
              </a:solidFill>
              <a:latin typeface="Calibri"/>
              <a:ea typeface="Calibri"/>
              <a:cs typeface="Calibri"/>
              <a:sym typeface="Calibri"/>
            </a:endParaRPr>
          </a:p>
        </p:txBody>
      </p:sp>
      <p:cxnSp>
        <p:nvCxnSpPr>
          <p:cNvPr id="362" name="Google Shape;362;p22"/>
          <p:cNvCxnSpPr/>
          <p:nvPr/>
        </p:nvCxnSpPr>
        <p:spPr>
          <a:xfrm>
            <a:off x="4732020" y="2990088"/>
            <a:ext cx="4046220" cy="0"/>
          </a:xfrm>
          <a:prstGeom prst="straightConnector1">
            <a:avLst/>
          </a:prstGeom>
          <a:noFill/>
          <a:ln cap="flat" cmpd="sng" w="9525">
            <a:solidFill>
              <a:srgbClr val="E1E6EA"/>
            </a:solidFill>
            <a:prstDash val="solid"/>
            <a:round/>
            <a:headEnd len="sm" w="sm" type="none"/>
            <a:tailEnd len="sm" w="sm" type="none"/>
          </a:ln>
        </p:spPr>
      </p:cxnSp>
      <p:sp>
        <p:nvSpPr>
          <p:cNvPr id="363" name="Google Shape;363;p22"/>
          <p:cNvSpPr/>
          <p:nvPr/>
        </p:nvSpPr>
        <p:spPr>
          <a:xfrm>
            <a:off x="4732020" y="3113532"/>
            <a:ext cx="233172" cy="233172"/>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4" name="Google Shape;364;p22"/>
          <p:cNvSpPr/>
          <p:nvPr/>
        </p:nvSpPr>
        <p:spPr>
          <a:xfrm>
            <a:off x="4732020" y="3113532"/>
            <a:ext cx="233172" cy="233172"/>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800"/>
              <a:buFont typeface="Calibri"/>
              <a:buNone/>
            </a:pPr>
            <a:r>
              <a:rPr b="1" i="0" lang="en" sz="800" u="none" cap="none" strike="noStrike">
                <a:solidFill>
                  <a:srgbClr val="FFFFFF"/>
                </a:solidFill>
                <a:latin typeface="Calibri"/>
                <a:ea typeface="Calibri"/>
                <a:cs typeface="Calibri"/>
                <a:sym typeface="Calibri"/>
              </a:rPr>
              <a:t>5</a:t>
            </a:r>
            <a:endParaRPr b="0" i="0" sz="800" u="none" cap="none" strike="noStrike">
              <a:solidFill>
                <a:schemeClr val="dk1"/>
              </a:solidFill>
              <a:latin typeface="Calibri"/>
              <a:ea typeface="Calibri"/>
              <a:cs typeface="Calibri"/>
              <a:sym typeface="Calibri"/>
            </a:endParaRPr>
          </a:p>
        </p:txBody>
      </p:sp>
      <p:sp>
        <p:nvSpPr>
          <p:cNvPr id="365" name="Google Shape;365;p22"/>
          <p:cNvSpPr/>
          <p:nvPr/>
        </p:nvSpPr>
        <p:spPr>
          <a:xfrm>
            <a:off x="5074920" y="3038094"/>
            <a:ext cx="2708910" cy="215067"/>
          </a:xfrm>
          <a:prstGeom prst="rect">
            <a:avLst/>
          </a:prstGeom>
          <a:noFill/>
          <a:ln>
            <a:noFill/>
          </a:ln>
        </p:spPr>
        <p:txBody>
          <a:bodyPr anchorCtr="0" anchor="b" bIns="34275" lIns="68575" spcFirstLastPara="1" rIns="68575" wrap="square" tIns="34275">
            <a:noAutofit/>
          </a:bodyPr>
          <a:lstStyle/>
          <a:p>
            <a:pPr indent="0" lvl="0" marL="0" marR="0" rtl="0" algn="l">
              <a:spcBef>
                <a:spcPts val="0"/>
              </a:spcBef>
              <a:spcAft>
                <a:spcPts val="0"/>
              </a:spcAft>
              <a:buClr>
                <a:srgbClr val="132A45"/>
              </a:buClr>
              <a:buSzPts val="800"/>
              <a:buFont typeface="Calibri"/>
              <a:buNone/>
            </a:pPr>
            <a:r>
              <a:rPr b="1" i="0" lang="en" sz="800" u="none" cap="none" strike="noStrike">
                <a:solidFill>
                  <a:srgbClr val="132A45"/>
                </a:solidFill>
                <a:latin typeface="Calibri"/>
                <a:ea typeface="Calibri"/>
                <a:cs typeface="Calibri"/>
                <a:sym typeface="Calibri"/>
              </a:rPr>
              <a:t>Malaise</a:t>
            </a:r>
            <a:endParaRPr b="0" i="0" sz="800" u="none" cap="none" strike="noStrike">
              <a:solidFill>
                <a:schemeClr val="dk1"/>
              </a:solidFill>
              <a:latin typeface="Calibri"/>
              <a:ea typeface="Calibri"/>
              <a:cs typeface="Calibri"/>
              <a:sym typeface="Calibri"/>
            </a:endParaRPr>
          </a:p>
        </p:txBody>
      </p:sp>
      <p:sp>
        <p:nvSpPr>
          <p:cNvPr id="366" name="Google Shape;366;p22"/>
          <p:cNvSpPr/>
          <p:nvPr/>
        </p:nvSpPr>
        <p:spPr>
          <a:xfrm>
            <a:off x="5074920" y="3245480"/>
            <a:ext cx="2708910" cy="176662"/>
          </a:xfrm>
          <a:prstGeom prst="rect">
            <a:avLst/>
          </a:prstGeom>
          <a:noFill/>
          <a:ln>
            <a:noFill/>
          </a:ln>
        </p:spPr>
        <p:txBody>
          <a:bodyPr anchorCtr="0" anchor="t" bIns="34275" lIns="68575" spcFirstLastPara="1" rIns="68575" wrap="square" tIns="34275">
            <a:noAutofit/>
          </a:bodyPr>
          <a:lstStyle/>
          <a:p>
            <a:pPr indent="0" lvl="0" marL="0" marR="0" rtl="0" algn="l">
              <a:spcBef>
                <a:spcPts val="0"/>
              </a:spcBef>
              <a:spcAft>
                <a:spcPts val="0"/>
              </a:spcAft>
              <a:buClr>
                <a:srgbClr val="4A4A4A"/>
              </a:buClr>
              <a:buSzPts val="700"/>
              <a:buFont typeface="Calibri"/>
              <a:buNone/>
            </a:pPr>
            <a:r>
              <a:rPr b="0" i="0" lang="en" sz="700" u="none" cap="none" strike="noStrike">
                <a:solidFill>
                  <a:srgbClr val="4A4A4A"/>
                </a:solidFill>
                <a:latin typeface="Calibri"/>
                <a:ea typeface="Calibri"/>
                <a:cs typeface="Calibri"/>
                <a:sym typeface="Calibri"/>
              </a:rPr>
              <a:t>6 of 100 reports</a:t>
            </a:r>
            <a:endParaRPr b="0" i="0" sz="700" u="none" cap="none" strike="noStrike">
              <a:solidFill>
                <a:schemeClr val="dk1"/>
              </a:solidFill>
              <a:latin typeface="Calibri"/>
              <a:ea typeface="Calibri"/>
              <a:cs typeface="Calibri"/>
              <a:sym typeface="Calibri"/>
            </a:endParaRPr>
          </a:p>
        </p:txBody>
      </p:sp>
      <p:sp>
        <p:nvSpPr>
          <p:cNvPr id="367" name="Google Shape;367;p22"/>
          <p:cNvSpPr/>
          <p:nvPr/>
        </p:nvSpPr>
        <p:spPr>
          <a:xfrm>
            <a:off x="7852410" y="3120390"/>
            <a:ext cx="925830" cy="219456"/>
          </a:xfrm>
          <a:prstGeom prst="roundRect">
            <a:avLst>
              <a:gd fmla="val 50000" name="adj"/>
            </a:avLst>
          </a:prstGeom>
          <a:solidFill>
            <a:srgbClr val="FAB21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8" name="Google Shape;368;p22"/>
          <p:cNvSpPr/>
          <p:nvPr/>
        </p:nvSpPr>
        <p:spPr>
          <a:xfrm>
            <a:off x="7852410" y="3120390"/>
            <a:ext cx="925830"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1A1A1A"/>
              </a:buClr>
              <a:buSzPts val="700"/>
              <a:buFont typeface="Calibri"/>
              <a:buNone/>
            </a:pPr>
            <a:r>
              <a:rPr b="1" i="0" lang="en" sz="700" u="none" cap="none" strike="noStrike">
                <a:solidFill>
                  <a:srgbClr val="1A1A1A"/>
                </a:solidFill>
                <a:latin typeface="Calibri"/>
                <a:ea typeface="Calibri"/>
                <a:cs typeface="Calibri"/>
                <a:sym typeface="Calibri"/>
              </a:rPr>
              <a:t>6 reports</a:t>
            </a:r>
            <a:endParaRPr b="0" i="0" sz="700" u="none" cap="none" strike="noStrike">
              <a:solidFill>
                <a:schemeClr val="dk1"/>
              </a:solidFill>
              <a:latin typeface="Calibri"/>
              <a:ea typeface="Calibri"/>
              <a:cs typeface="Calibri"/>
              <a:sym typeface="Calibri"/>
            </a:endParaRPr>
          </a:p>
        </p:txBody>
      </p:sp>
      <p:cxnSp>
        <p:nvCxnSpPr>
          <p:cNvPr id="369" name="Google Shape;369;p22"/>
          <p:cNvCxnSpPr/>
          <p:nvPr/>
        </p:nvCxnSpPr>
        <p:spPr>
          <a:xfrm>
            <a:off x="4732020" y="3415284"/>
            <a:ext cx="4046220" cy="0"/>
          </a:xfrm>
          <a:prstGeom prst="straightConnector1">
            <a:avLst/>
          </a:prstGeom>
          <a:noFill/>
          <a:ln cap="flat" cmpd="sng" w="9525">
            <a:solidFill>
              <a:srgbClr val="E1E6EA"/>
            </a:solidFill>
            <a:prstDash val="solid"/>
            <a:round/>
            <a:headEnd len="sm" w="sm" type="none"/>
            <a:tailEnd len="sm" w="sm" type="none"/>
          </a:ln>
        </p:spPr>
      </p:cxnSp>
      <p:sp>
        <p:nvSpPr>
          <p:cNvPr id="370" name="Google Shape;370;p22"/>
          <p:cNvSpPr/>
          <p:nvPr/>
        </p:nvSpPr>
        <p:spPr>
          <a:xfrm>
            <a:off x="411480" y="3600450"/>
            <a:ext cx="8332470" cy="960120"/>
          </a:xfrm>
          <a:prstGeom prst="roundRect">
            <a:avLst>
              <a:gd fmla="val 5714"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1" name="Google Shape;371;p22"/>
          <p:cNvSpPr/>
          <p:nvPr/>
        </p:nvSpPr>
        <p:spPr>
          <a:xfrm>
            <a:off x="603504" y="3737610"/>
            <a:ext cx="377190" cy="377190"/>
          </a:xfrm>
          <a:prstGeom prst="ellipse">
            <a:avLst/>
          </a:prstGeom>
          <a:solidFill>
            <a:srgbClr val="FAB219"/>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2" name="Google Shape;372;p22"/>
          <p:cNvSpPr/>
          <p:nvPr/>
        </p:nvSpPr>
        <p:spPr>
          <a:xfrm>
            <a:off x="603504" y="3737610"/>
            <a:ext cx="377190" cy="37719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500"/>
              <a:buFont typeface="Calibri"/>
              <a:buNone/>
            </a:pPr>
            <a:r>
              <a:rPr b="1" i="0" lang="en" sz="1500" u="none" cap="none" strike="noStrike">
                <a:solidFill>
                  <a:srgbClr val="FFFFFF"/>
                </a:solidFill>
                <a:latin typeface="Calibri"/>
                <a:ea typeface="Calibri"/>
                <a:cs typeface="Calibri"/>
                <a:sym typeface="Calibri"/>
              </a:rPr>
              <a:t>⚠</a:t>
            </a:r>
            <a:endParaRPr b="0" i="0" sz="1500" u="none" cap="none" strike="noStrike">
              <a:solidFill>
                <a:schemeClr val="dk1"/>
              </a:solidFill>
              <a:latin typeface="Calibri"/>
              <a:ea typeface="Calibri"/>
              <a:cs typeface="Calibri"/>
              <a:sym typeface="Calibri"/>
            </a:endParaRPr>
          </a:p>
        </p:txBody>
      </p:sp>
      <p:sp>
        <p:nvSpPr>
          <p:cNvPr id="373" name="Google Shape;373;p22"/>
          <p:cNvSpPr/>
          <p:nvPr/>
        </p:nvSpPr>
        <p:spPr>
          <a:xfrm>
            <a:off x="1097280" y="3723894"/>
            <a:ext cx="7475220" cy="219456"/>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mbria"/>
              <a:buNone/>
            </a:pPr>
            <a:r>
              <a:rPr b="1" i="0" lang="en" sz="1000" u="none" cap="none" strike="noStrike">
                <a:solidFill>
                  <a:srgbClr val="132A45"/>
                </a:solidFill>
                <a:latin typeface="Cambria"/>
                <a:ea typeface="Cambria"/>
                <a:cs typeface="Cambria"/>
                <a:sym typeface="Cambria"/>
              </a:rPr>
              <a:t>Read this data honestly</a:t>
            </a:r>
            <a:endParaRPr b="0" i="0" sz="1000" u="none" cap="none" strike="noStrike">
              <a:solidFill>
                <a:schemeClr val="dk1"/>
              </a:solidFill>
              <a:latin typeface="Calibri"/>
              <a:ea typeface="Calibri"/>
              <a:cs typeface="Calibri"/>
              <a:sym typeface="Calibri"/>
            </a:endParaRPr>
          </a:p>
        </p:txBody>
      </p:sp>
      <p:sp>
        <p:nvSpPr>
          <p:cNvPr id="374" name="Google Shape;374;p22"/>
          <p:cNvSpPr/>
          <p:nvPr/>
        </p:nvSpPr>
        <p:spPr>
          <a:xfrm>
            <a:off x="1097280" y="3950208"/>
            <a:ext cx="7543800" cy="582930"/>
          </a:xfrm>
          <a:prstGeom prst="rect">
            <a:avLst/>
          </a:prstGeom>
          <a:noFill/>
          <a:ln>
            <a:noFill/>
          </a:ln>
        </p:spPr>
        <p:txBody>
          <a:bodyPr anchorCtr="0" anchor="ctr" bIns="34275" lIns="68575" spcFirstLastPara="1" rIns="68575" wrap="square" tIns="34275">
            <a:noAutofit/>
          </a:bodyPr>
          <a:lstStyle/>
          <a:p>
            <a:pPr indent="0" lvl="0" marL="0" marR="0" rtl="0" algn="l">
              <a:lnSpc>
                <a:spcPct val="120000"/>
              </a:lnSpc>
              <a:spcBef>
                <a:spcPts val="0"/>
              </a:spcBef>
              <a:spcAft>
                <a:spcPts val="0"/>
              </a:spcAft>
              <a:buClr>
                <a:srgbClr val="4A4A4A"/>
              </a:buClr>
              <a:buSzPts val="800"/>
              <a:buFont typeface="Calibri"/>
              <a:buNone/>
            </a:pPr>
            <a:r>
              <a:rPr b="0" i="0" lang="en" sz="800" u="none" cap="none" strike="noStrike">
                <a:solidFill>
                  <a:srgbClr val="4A4A4A"/>
                </a:solidFill>
                <a:latin typeface="Calibri"/>
                <a:ea typeface="Calibri"/>
                <a:cs typeface="Calibri"/>
                <a:sym typeface="Calibri"/>
              </a:rPr>
              <a:t>OpenFDA is a public adverse-event feed, independent of the MIMIC patients above</a:t>
            </a:r>
            <a:r>
              <a:rPr lang="en" sz="800">
                <a:solidFill>
                  <a:srgbClr val="4A4A4A"/>
                </a:solidFill>
                <a:latin typeface="Calibri"/>
                <a:ea typeface="Calibri"/>
                <a:cs typeface="Calibri"/>
                <a:sym typeface="Calibri"/>
              </a:rPr>
              <a:t>, </a:t>
            </a:r>
            <a:r>
              <a:rPr b="0" i="0" lang="en" sz="800" u="none" cap="none" strike="noStrike">
                <a:solidFill>
                  <a:srgbClr val="4A4A4A"/>
                </a:solidFill>
                <a:latin typeface="Calibri"/>
                <a:ea typeface="Calibri"/>
                <a:cs typeface="Calibri"/>
                <a:sym typeface="Calibri"/>
              </a:rPr>
              <a:t> it answers Q3 on its own, not linked patient-by-patient. LETAIRIS alone appears in 61% of all 100 safety reports in this feed a concentration from a small number of repeat reporters, not a clinical signal about the drug's safety. 122 of 145 distinct medications show up in just one report, so rankings beyond the top few should be read as directional, not statistically robust.</a:t>
            </a:r>
            <a:endParaRPr b="0" i="0" sz="800" u="none" cap="none" strike="noStrike">
              <a:solidFill>
                <a:schemeClr val="dk1"/>
              </a:solidFill>
              <a:latin typeface="Calibri"/>
              <a:ea typeface="Calibri"/>
              <a:cs typeface="Calibri"/>
              <a:sym typeface="Calibri"/>
            </a:endParaRPr>
          </a:p>
        </p:txBody>
      </p:sp>
      <p:sp>
        <p:nvSpPr>
          <p:cNvPr id="375" name="Google Shape;375;p22"/>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376" name="Google Shape;376;p22"/>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7</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1" name="Shape 381"/>
        <p:cNvGrpSpPr/>
        <p:nvPr/>
      </p:nvGrpSpPr>
      <p:grpSpPr>
        <a:xfrm>
          <a:off x="0" y="0"/>
          <a:ext cx="0" cy="0"/>
          <a:chOff x="0" y="0"/>
          <a:chExt cx="0" cy="0"/>
        </a:xfrm>
      </p:grpSpPr>
      <p:sp>
        <p:nvSpPr>
          <p:cNvPr id="382" name="Google Shape;382;p23"/>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Q4 — PREDICTIVE MODELING</a:t>
            </a:r>
            <a:endParaRPr b="0" i="0" sz="1000" u="none" cap="none" strike="noStrike">
              <a:solidFill>
                <a:schemeClr val="dk1"/>
              </a:solidFill>
              <a:latin typeface="Calibri"/>
              <a:ea typeface="Calibri"/>
              <a:cs typeface="Calibri"/>
              <a:sym typeface="Calibri"/>
            </a:endParaRPr>
          </a:p>
        </p:txBody>
      </p:sp>
      <p:sp>
        <p:nvSpPr>
          <p:cNvPr id="383" name="Google Shape;383;p23"/>
          <p:cNvSpPr/>
          <p:nvPr/>
        </p:nvSpPr>
        <p:spPr>
          <a:xfrm>
            <a:off x="411480" y="445770"/>
            <a:ext cx="768096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900"/>
              <a:buFont typeface="Cambria"/>
              <a:buNone/>
            </a:pPr>
            <a:r>
              <a:rPr b="1" i="0" lang="en" sz="1900" u="none" cap="none" strike="noStrike">
                <a:solidFill>
                  <a:srgbClr val="132A45"/>
                </a:solidFill>
                <a:latin typeface="Cambria"/>
                <a:ea typeface="Cambria"/>
                <a:cs typeface="Cambria"/>
                <a:sym typeface="Cambria"/>
              </a:rPr>
              <a:t>Can we predict whether a patient will be readmitted?</a:t>
            </a:r>
            <a:endParaRPr b="0" i="0" sz="1900" u="none" cap="none" strike="noStrike">
              <a:solidFill>
                <a:schemeClr val="dk1"/>
              </a:solidFill>
              <a:latin typeface="Calibri"/>
              <a:ea typeface="Calibri"/>
              <a:cs typeface="Calibri"/>
              <a:sym typeface="Calibri"/>
            </a:endParaRPr>
          </a:p>
        </p:txBody>
      </p:sp>
      <p:sp>
        <p:nvSpPr>
          <p:cNvPr id="384" name="Google Shape;384;p23"/>
          <p:cNvSpPr/>
          <p:nvPr/>
        </p:nvSpPr>
        <p:spPr>
          <a:xfrm>
            <a:off x="8181594" y="205740"/>
            <a:ext cx="781812" cy="918972"/>
          </a:xfrm>
          <a:prstGeom prst="roundRect">
            <a:avLst>
              <a:gd fmla="val 5263" name="adj"/>
            </a:avLst>
          </a:prstGeom>
          <a:solidFill>
            <a:srgbClr val="FFFFFF"/>
          </a:solidFill>
          <a:ln cap="flat" cmpd="sng" w="12700">
            <a:solidFill>
              <a:srgbClr val="E1E6EA"/>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qr/qr_predictive.png" id="385" name="Google Shape;385;p23"/>
          <p:cNvPicPr preferRelativeResize="0"/>
          <p:nvPr/>
        </p:nvPicPr>
        <p:blipFill rotWithShape="1">
          <a:blip r:embed="rId3">
            <a:alphaModFix/>
          </a:blip>
          <a:srcRect b="0" l="0" r="0" t="0"/>
          <a:stretch/>
        </p:blipFill>
        <p:spPr>
          <a:xfrm>
            <a:off x="8263890" y="288036"/>
            <a:ext cx="617220" cy="617220"/>
          </a:xfrm>
          <a:prstGeom prst="rect">
            <a:avLst/>
          </a:prstGeom>
          <a:noFill/>
          <a:ln>
            <a:noFill/>
          </a:ln>
        </p:spPr>
      </p:pic>
      <p:sp>
        <p:nvSpPr>
          <p:cNvPr id="386" name="Google Shape;386;p23"/>
          <p:cNvSpPr/>
          <p:nvPr/>
        </p:nvSpPr>
        <p:spPr>
          <a:xfrm>
            <a:off x="8092440" y="918972"/>
            <a:ext cx="960120" cy="20574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898781"/>
              </a:buClr>
              <a:buSzPts val="600"/>
              <a:buFont typeface="Calibri"/>
              <a:buNone/>
            </a:pPr>
            <a:r>
              <a:rPr b="1" i="0" lang="en" sz="600" u="none" cap="none" strike="noStrike">
                <a:solidFill>
                  <a:srgbClr val="898781"/>
                </a:solidFill>
                <a:latin typeface="Calibri"/>
                <a:ea typeface="Calibri"/>
                <a:cs typeface="Calibri"/>
                <a:sym typeface="Calibri"/>
              </a:rPr>
              <a:t>Live dashboard</a:t>
            </a:r>
            <a:endParaRPr b="0" i="0" sz="600" u="none" cap="none" strike="noStrike">
              <a:solidFill>
                <a:schemeClr val="dk1"/>
              </a:solidFill>
              <a:latin typeface="Calibri"/>
              <a:ea typeface="Calibri"/>
              <a:cs typeface="Calibri"/>
              <a:sym typeface="Calibri"/>
            </a:endParaRPr>
          </a:p>
        </p:txBody>
      </p:sp>
      <p:sp>
        <p:nvSpPr>
          <p:cNvPr id="387" name="Google Shape;387;p23"/>
          <p:cNvSpPr/>
          <p:nvPr/>
        </p:nvSpPr>
        <p:spPr>
          <a:xfrm>
            <a:off x="411480" y="1062990"/>
            <a:ext cx="41148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Model comparison on the held-out test set</a:t>
            </a:r>
            <a:endParaRPr b="0" i="0" sz="1000" u="none" cap="none" strike="noStrike">
              <a:solidFill>
                <a:schemeClr val="dk1"/>
              </a:solidFill>
              <a:latin typeface="Calibri"/>
              <a:ea typeface="Calibri"/>
              <a:cs typeface="Calibri"/>
              <a:sym typeface="Calibri"/>
            </a:endParaRPr>
          </a:p>
        </p:txBody>
      </p:sp>
      <p:pic>
        <p:nvPicPr>
          <p:cNvPr id="388" name="Google Shape;388;p23"/>
          <p:cNvPicPr preferRelativeResize="0"/>
          <p:nvPr/>
        </p:nvPicPr>
        <p:blipFill rotWithShape="1">
          <a:blip r:embed="rId4">
            <a:alphaModFix/>
          </a:blip>
          <a:srcRect b="0" l="0" r="0" t="0"/>
          <a:stretch/>
        </p:blipFill>
        <p:spPr>
          <a:xfrm>
            <a:off x="308610" y="1303020"/>
            <a:ext cx="4183380" cy="2263140"/>
          </a:xfrm>
          <a:prstGeom prst="rect">
            <a:avLst/>
          </a:prstGeom>
          <a:noFill/>
          <a:ln>
            <a:noFill/>
          </a:ln>
        </p:spPr>
      </p:pic>
      <p:sp>
        <p:nvSpPr>
          <p:cNvPr id="389" name="Google Shape;389;p23"/>
          <p:cNvSpPr/>
          <p:nvPr/>
        </p:nvSpPr>
        <p:spPr>
          <a:xfrm>
            <a:off x="4766310" y="1062990"/>
            <a:ext cx="397764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1000"/>
              <a:buFont typeface="Calibri"/>
              <a:buNone/>
            </a:pPr>
            <a:r>
              <a:rPr b="1" i="0" lang="en" sz="1000" u="none" cap="none" strike="noStrike">
                <a:solidFill>
                  <a:srgbClr val="132A45"/>
                </a:solidFill>
                <a:latin typeface="Calibri"/>
                <a:ea typeface="Calibri"/>
                <a:cs typeface="Calibri"/>
                <a:sym typeface="Calibri"/>
              </a:rPr>
              <a:t>What drives predicted risk (Logistic Regression)</a:t>
            </a:r>
            <a:endParaRPr b="0" i="0" sz="1000" u="none" cap="none" strike="noStrike">
              <a:solidFill>
                <a:schemeClr val="dk1"/>
              </a:solidFill>
              <a:latin typeface="Calibri"/>
              <a:ea typeface="Calibri"/>
              <a:cs typeface="Calibri"/>
              <a:sym typeface="Calibri"/>
            </a:endParaRPr>
          </a:p>
        </p:txBody>
      </p:sp>
      <p:pic>
        <p:nvPicPr>
          <p:cNvPr id="390" name="Google Shape;390;p23"/>
          <p:cNvPicPr preferRelativeResize="0"/>
          <p:nvPr/>
        </p:nvPicPr>
        <p:blipFill rotWithShape="1">
          <a:blip r:embed="rId5">
            <a:alphaModFix/>
          </a:blip>
          <a:srcRect b="0" l="0" r="0" t="0"/>
          <a:stretch/>
        </p:blipFill>
        <p:spPr>
          <a:xfrm>
            <a:off x="4663440" y="1303020"/>
            <a:ext cx="4114800" cy="2263140"/>
          </a:xfrm>
          <a:prstGeom prst="rect">
            <a:avLst/>
          </a:prstGeom>
          <a:noFill/>
          <a:ln>
            <a:noFill/>
          </a:ln>
        </p:spPr>
      </p:pic>
      <p:sp>
        <p:nvSpPr>
          <p:cNvPr id="391" name="Google Shape;391;p23"/>
          <p:cNvSpPr/>
          <p:nvPr/>
        </p:nvSpPr>
        <p:spPr>
          <a:xfrm>
            <a:off x="411480" y="3737610"/>
            <a:ext cx="8332470" cy="822960"/>
          </a:xfrm>
          <a:prstGeom prst="roundRect">
            <a:avLst>
              <a:gd fmla="val 6667" name="adj"/>
            </a:avLst>
          </a:prstGeom>
          <a:solidFill>
            <a:srgbClr val="132A45"/>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2" name="Google Shape;392;p23"/>
          <p:cNvSpPr/>
          <p:nvPr/>
        </p:nvSpPr>
        <p:spPr>
          <a:xfrm>
            <a:off x="617220" y="3737610"/>
            <a:ext cx="7920990" cy="822960"/>
          </a:xfrm>
          <a:prstGeom prst="rect">
            <a:avLst/>
          </a:prstGeom>
          <a:noFill/>
          <a:ln>
            <a:noFill/>
          </a:ln>
        </p:spPr>
        <p:txBody>
          <a:bodyPr anchorCtr="0" anchor="ctr" bIns="34275" lIns="68575" spcFirstLastPara="1" rIns="68575" wrap="square" tIns="34275">
            <a:noAutofit/>
          </a:bodyPr>
          <a:lstStyle/>
          <a:p>
            <a:pPr indent="0" lvl="0" marL="0" marR="0" rtl="0" algn="l">
              <a:lnSpc>
                <a:spcPct val="125000"/>
              </a:lnSpc>
              <a:spcBef>
                <a:spcPts val="0"/>
              </a:spcBef>
              <a:spcAft>
                <a:spcPts val="0"/>
              </a:spcAft>
              <a:buClr>
                <a:srgbClr val="FFFFFF"/>
              </a:buClr>
              <a:buSzPts val="900"/>
              <a:buFont typeface="Calibri"/>
              <a:buNone/>
            </a:pPr>
            <a:r>
              <a:rPr b="0" i="0" lang="en" sz="900" u="none" cap="none" strike="noStrike">
                <a:solidFill>
                  <a:srgbClr val="FFFFFF"/>
                </a:solidFill>
                <a:latin typeface="Calibri"/>
                <a:ea typeface="Calibri"/>
                <a:cs typeface="Calibri"/>
                <a:sym typeface="Calibri"/>
              </a:rPr>
              <a:t>We chose Logistic Regression: lower overall accuracy (58% vs. 62%), but more than double the recall (69% vs. 31%) catching real readmissions matters more here than a cleaner-looking accuracy number. Honest caveat: F1 = 0.38, trained on just 275 admissions. This is a leakage-free proof-of-concept, not a clinically validated tool.</a:t>
            </a:r>
            <a:endParaRPr b="0" i="0" sz="900" u="none" cap="none" strike="noStrike">
              <a:solidFill>
                <a:schemeClr val="dk1"/>
              </a:solidFill>
              <a:latin typeface="Calibri"/>
              <a:ea typeface="Calibri"/>
              <a:cs typeface="Calibri"/>
              <a:sym typeface="Calibri"/>
            </a:endParaRPr>
          </a:p>
        </p:txBody>
      </p:sp>
      <p:sp>
        <p:nvSpPr>
          <p:cNvPr id="393" name="Google Shape;393;p23"/>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394" name="Google Shape;394;p23"/>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8</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p24"/>
          <p:cNvSpPr/>
          <p:nvPr/>
        </p:nvSpPr>
        <p:spPr>
          <a:xfrm>
            <a:off x="411480" y="240030"/>
            <a:ext cx="68580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2A78D6"/>
              </a:buClr>
              <a:buSzPts val="1000"/>
              <a:buFont typeface="Calibri"/>
              <a:buNone/>
            </a:pPr>
            <a:r>
              <a:rPr b="1" i="0" lang="en" sz="1000" u="none" cap="none" strike="noStrike">
                <a:solidFill>
                  <a:srgbClr val="2A78D6"/>
                </a:solidFill>
                <a:latin typeface="Calibri"/>
                <a:ea typeface="Calibri"/>
                <a:cs typeface="Calibri"/>
                <a:sym typeface="Calibri"/>
              </a:rPr>
              <a:t>LIVE DEMO</a:t>
            </a:r>
            <a:endParaRPr b="0" i="0" sz="1000" u="none" cap="none" strike="noStrike">
              <a:solidFill>
                <a:schemeClr val="dk1"/>
              </a:solidFill>
              <a:latin typeface="Calibri"/>
              <a:ea typeface="Calibri"/>
              <a:cs typeface="Calibri"/>
              <a:sym typeface="Calibri"/>
            </a:endParaRPr>
          </a:p>
        </p:txBody>
      </p:sp>
      <p:sp>
        <p:nvSpPr>
          <p:cNvPr id="401" name="Google Shape;401;p24"/>
          <p:cNvSpPr/>
          <p:nvPr/>
        </p:nvSpPr>
        <p:spPr>
          <a:xfrm>
            <a:off x="411480" y="445770"/>
            <a:ext cx="8298180" cy="48006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2300"/>
              <a:buFont typeface="Cambria"/>
              <a:buNone/>
            </a:pPr>
            <a:r>
              <a:rPr b="1" i="0" lang="en" sz="2300" u="none" cap="none" strike="noStrike">
                <a:solidFill>
                  <a:srgbClr val="132A45"/>
                </a:solidFill>
                <a:latin typeface="Cambria"/>
                <a:ea typeface="Cambria"/>
                <a:cs typeface="Cambria"/>
                <a:sym typeface="Cambria"/>
              </a:rPr>
              <a:t>Putting it in front of a user: the Streamlit portal</a:t>
            </a:r>
            <a:endParaRPr b="0" i="0" sz="2300" u="none" cap="none" strike="noStrike">
              <a:solidFill>
                <a:schemeClr val="dk1"/>
              </a:solidFill>
              <a:latin typeface="Calibri"/>
              <a:ea typeface="Calibri"/>
              <a:cs typeface="Calibri"/>
              <a:sym typeface="Calibri"/>
            </a:endParaRPr>
          </a:p>
        </p:txBody>
      </p:sp>
      <p:sp>
        <p:nvSpPr>
          <p:cNvPr id="402" name="Google Shape;402;p24"/>
          <p:cNvSpPr/>
          <p:nvPr/>
        </p:nvSpPr>
        <p:spPr>
          <a:xfrm>
            <a:off x="411480" y="1062990"/>
            <a:ext cx="8298180" cy="37719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4A4A4A"/>
              </a:buClr>
              <a:buSzPts val="1000"/>
              <a:buFont typeface="Calibri"/>
              <a:buNone/>
            </a:pPr>
            <a:r>
              <a:rPr b="0" i="0" lang="en" sz="1000" u="none" cap="none" strike="noStrike">
                <a:solidFill>
                  <a:srgbClr val="4A4A4A"/>
                </a:solidFill>
                <a:latin typeface="Calibri"/>
                <a:ea typeface="Calibri"/>
                <a:cs typeface="Calibri"/>
                <a:sym typeface="Calibri"/>
              </a:rPr>
              <a:t>Every question above is also answerable interactively — a 5-page app where a user filters and explores the data, and can score a new patient live.</a:t>
            </a:r>
            <a:endParaRPr b="0" i="0" sz="1000" u="none" cap="none" strike="noStrike">
              <a:solidFill>
                <a:schemeClr val="dk1"/>
              </a:solidFill>
              <a:latin typeface="Calibri"/>
              <a:ea typeface="Calibri"/>
              <a:cs typeface="Calibri"/>
              <a:sym typeface="Calibri"/>
            </a:endParaRPr>
          </a:p>
        </p:txBody>
      </p:sp>
      <p:pic>
        <p:nvPicPr>
          <p:cNvPr descr="/mnt/user-data/outputs/portal_home_preview.png" id="403" name="Google Shape;403;p24"/>
          <p:cNvPicPr preferRelativeResize="0"/>
          <p:nvPr/>
        </p:nvPicPr>
        <p:blipFill rotWithShape="1">
          <a:blip r:embed="rId3">
            <a:alphaModFix/>
          </a:blip>
          <a:srcRect b="0" l="0" r="0" t="0"/>
          <a:stretch/>
        </p:blipFill>
        <p:spPr>
          <a:xfrm>
            <a:off x="411480" y="1543050"/>
            <a:ext cx="4114800" cy="2791206"/>
          </a:xfrm>
          <a:prstGeom prst="rect">
            <a:avLst/>
          </a:prstGeom>
          <a:noFill/>
          <a:ln>
            <a:noFill/>
          </a:ln>
        </p:spPr>
      </p:pic>
      <p:pic>
        <p:nvPicPr>
          <p:cNvPr descr="/mnt/user-data/outputs/portal_predict_preview.png" id="404" name="Google Shape;404;p24"/>
          <p:cNvPicPr preferRelativeResize="0"/>
          <p:nvPr/>
        </p:nvPicPr>
        <p:blipFill rotWithShape="1">
          <a:blip r:embed="rId4">
            <a:alphaModFix/>
          </a:blip>
          <a:srcRect b="0" l="0" r="0" t="0"/>
          <a:stretch/>
        </p:blipFill>
        <p:spPr>
          <a:xfrm>
            <a:off x="4697730" y="1543050"/>
            <a:ext cx="4114800" cy="2791206"/>
          </a:xfrm>
          <a:prstGeom prst="rect">
            <a:avLst/>
          </a:prstGeom>
          <a:noFill/>
          <a:ln>
            <a:noFill/>
          </a:ln>
        </p:spPr>
      </p:pic>
      <p:sp>
        <p:nvSpPr>
          <p:cNvPr id="405" name="Google Shape;405;p24"/>
          <p:cNvSpPr/>
          <p:nvPr/>
        </p:nvSpPr>
        <p:spPr>
          <a:xfrm>
            <a:off x="411480" y="4423410"/>
            <a:ext cx="4046220" cy="514350"/>
          </a:xfrm>
          <a:prstGeom prst="roundRect">
            <a:avLst>
              <a:gd fmla="val 8000"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6" name="Google Shape;406;p24"/>
          <p:cNvSpPr/>
          <p:nvPr/>
        </p:nvSpPr>
        <p:spPr>
          <a:xfrm>
            <a:off x="548640" y="4423410"/>
            <a:ext cx="377190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Home </a:t>
            </a:r>
            <a:r>
              <a:rPr b="1" lang="en" sz="900">
                <a:solidFill>
                  <a:srgbClr val="132A45"/>
                </a:solidFill>
                <a:latin typeface="Calibri"/>
                <a:ea typeface="Calibri"/>
                <a:cs typeface="Calibri"/>
                <a:sym typeface="Calibri"/>
              </a:rPr>
              <a:t>-&gt; </a:t>
            </a:r>
            <a:r>
              <a:rPr b="1" i="0" lang="en" sz="900" u="none" cap="none" strike="noStrike">
                <a:solidFill>
                  <a:srgbClr val="132A45"/>
                </a:solidFill>
                <a:latin typeface="Calibri"/>
                <a:ea typeface="Calibri"/>
                <a:cs typeface="Calibri"/>
                <a:sym typeface="Calibri"/>
              </a:rPr>
              <a:t> KPIs, risk split, and page-by-page navigation</a:t>
            </a:r>
            <a:endParaRPr b="0" i="0" sz="900" u="none" cap="none" strike="noStrike">
              <a:solidFill>
                <a:schemeClr val="dk1"/>
              </a:solidFill>
              <a:latin typeface="Calibri"/>
              <a:ea typeface="Calibri"/>
              <a:cs typeface="Calibri"/>
              <a:sym typeface="Calibri"/>
            </a:endParaRPr>
          </a:p>
        </p:txBody>
      </p:sp>
      <p:sp>
        <p:nvSpPr>
          <p:cNvPr id="407" name="Google Shape;407;p24"/>
          <p:cNvSpPr/>
          <p:nvPr/>
        </p:nvSpPr>
        <p:spPr>
          <a:xfrm>
            <a:off x="4697730" y="4423410"/>
            <a:ext cx="4046220" cy="514350"/>
          </a:xfrm>
          <a:prstGeom prst="roundRect">
            <a:avLst>
              <a:gd fmla="val 8000" name="adj"/>
            </a:avLst>
          </a:prstGeom>
          <a:solidFill>
            <a:srgbClr val="F5F8FB"/>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24"/>
          <p:cNvSpPr/>
          <p:nvPr/>
        </p:nvSpPr>
        <p:spPr>
          <a:xfrm>
            <a:off x="4834890" y="4423410"/>
            <a:ext cx="3771900" cy="51435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132A45"/>
              </a:buClr>
              <a:buSzPts val="900"/>
              <a:buFont typeface="Calibri"/>
              <a:buNone/>
            </a:pPr>
            <a:r>
              <a:rPr b="1" i="0" lang="en" sz="900" u="none" cap="none" strike="noStrike">
                <a:solidFill>
                  <a:srgbClr val="132A45"/>
                </a:solidFill>
                <a:latin typeface="Calibri"/>
                <a:ea typeface="Calibri"/>
                <a:cs typeface="Calibri"/>
                <a:sym typeface="Calibri"/>
              </a:rPr>
              <a:t>Predict Readmission Risk —</a:t>
            </a:r>
            <a:r>
              <a:rPr b="1" lang="en" sz="900">
                <a:solidFill>
                  <a:srgbClr val="132A45"/>
                </a:solidFill>
                <a:latin typeface="Calibri"/>
                <a:ea typeface="Calibri"/>
                <a:cs typeface="Calibri"/>
                <a:sym typeface="Calibri"/>
              </a:rPr>
              <a:t>&gt;</a:t>
            </a:r>
            <a:r>
              <a:rPr b="1" i="0" lang="en" sz="900" u="none" cap="none" strike="noStrike">
                <a:solidFill>
                  <a:srgbClr val="132A45"/>
                </a:solidFill>
                <a:latin typeface="Calibri"/>
                <a:ea typeface="Calibri"/>
                <a:cs typeface="Calibri"/>
                <a:sym typeface="Calibri"/>
              </a:rPr>
              <a:t> Input: patient form  →  Output: live risk gauge</a:t>
            </a:r>
            <a:endParaRPr b="0" i="0" sz="900" u="none" cap="none" strike="noStrike">
              <a:solidFill>
                <a:schemeClr val="dk1"/>
              </a:solidFill>
              <a:latin typeface="Calibri"/>
              <a:ea typeface="Calibri"/>
              <a:cs typeface="Calibri"/>
              <a:sym typeface="Calibri"/>
            </a:endParaRPr>
          </a:p>
        </p:txBody>
      </p:sp>
      <p:sp>
        <p:nvSpPr>
          <p:cNvPr id="409" name="Google Shape;409;p24"/>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410" name="Google Shape;410;p24"/>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98781"/>
              </a:buClr>
              <a:buSzPts val="700"/>
              <a:buFont typeface="Calibri"/>
              <a:buNone/>
            </a:pPr>
            <a:r>
              <a:rPr b="0" i="0" lang="en" sz="700" u="none" cap="none" strike="noStrike">
                <a:solidFill>
                  <a:srgbClr val="898781"/>
                </a:solidFill>
                <a:latin typeface="Calibri"/>
                <a:ea typeface="Calibri"/>
                <a:cs typeface="Calibri"/>
                <a:sym typeface="Calibri"/>
              </a:rPr>
              <a:t>9</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32A45"/>
        </a:solidFill>
      </p:bgPr>
    </p:bg>
    <p:spTree>
      <p:nvGrpSpPr>
        <p:cNvPr id="415" name="Shape 415"/>
        <p:cNvGrpSpPr/>
        <p:nvPr/>
      </p:nvGrpSpPr>
      <p:grpSpPr>
        <a:xfrm>
          <a:off x="0" y="0"/>
          <a:ext cx="0" cy="0"/>
          <a:chOff x="0" y="0"/>
          <a:chExt cx="0" cy="0"/>
        </a:xfrm>
      </p:grpSpPr>
      <p:sp>
        <p:nvSpPr>
          <p:cNvPr id="416" name="Google Shape;416;p25"/>
          <p:cNvSpPr/>
          <p:nvPr/>
        </p:nvSpPr>
        <p:spPr>
          <a:xfrm>
            <a:off x="5897880" y="0"/>
            <a:ext cx="3245891" cy="5143500"/>
          </a:xfrm>
          <a:prstGeom prst="rect">
            <a:avLst/>
          </a:prstGeom>
          <a:solidFill>
            <a:srgbClr val="0C1E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17" name="Google Shape;417;p25"/>
          <p:cNvSpPr/>
          <p:nvPr/>
        </p:nvSpPr>
        <p:spPr>
          <a:xfrm>
            <a:off x="411480" y="342900"/>
            <a:ext cx="41148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7FA8DE"/>
              </a:buClr>
              <a:buSzPts val="1000"/>
              <a:buFont typeface="Calibri"/>
              <a:buNone/>
            </a:pPr>
            <a:r>
              <a:rPr b="1" i="0" lang="en" sz="1000" u="none" cap="none" strike="noStrike">
                <a:solidFill>
                  <a:srgbClr val="7FA8DE"/>
                </a:solidFill>
                <a:latin typeface="Calibri"/>
                <a:ea typeface="Calibri"/>
                <a:cs typeface="Calibri"/>
                <a:sym typeface="Calibri"/>
              </a:rPr>
              <a:t>LIMITATIONS &amp; NEXT STEPS</a:t>
            </a:r>
            <a:endParaRPr b="0" i="0" sz="1000" u="none" cap="none" strike="noStrike">
              <a:solidFill>
                <a:schemeClr val="dk1"/>
              </a:solidFill>
              <a:latin typeface="Calibri"/>
              <a:ea typeface="Calibri"/>
              <a:cs typeface="Calibri"/>
              <a:sym typeface="Calibri"/>
            </a:endParaRPr>
          </a:p>
        </p:txBody>
      </p:sp>
      <p:sp>
        <p:nvSpPr>
          <p:cNvPr id="418" name="Google Shape;418;p25"/>
          <p:cNvSpPr/>
          <p:nvPr/>
        </p:nvSpPr>
        <p:spPr>
          <a:xfrm>
            <a:off x="411480" y="582930"/>
            <a:ext cx="5212080" cy="44577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FFFFFF"/>
              </a:buClr>
              <a:buSzPts val="2000"/>
              <a:buFont typeface="Cambria"/>
              <a:buNone/>
            </a:pPr>
            <a:r>
              <a:rPr b="1" i="0" lang="en" sz="2000" u="none" cap="none" strike="noStrike">
                <a:solidFill>
                  <a:srgbClr val="FFFFFF"/>
                </a:solidFill>
                <a:latin typeface="Cambria"/>
                <a:ea typeface="Cambria"/>
                <a:cs typeface="Cambria"/>
                <a:sym typeface="Cambria"/>
              </a:rPr>
              <a:t>Honest about scope, clear on what's next</a:t>
            </a:r>
            <a:endParaRPr b="0" i="0" sz="2000" u="none" cap="none" strike="noStrike">
              <a:solidFill>
                <a:schemeClr val="dk1"/>
              </a:solidFill>
              <a:latin typeface="Calibri"/>
              <a:ea typeface="Calibri"/>
              <a:cs typeface="Calibri"/>
              <a:sym typeface="Calibri"/>
            </a:endParaRPr>
          </a:p>
        </p:txBody>
      </p:sp>
      <p:sp>
        <p:nvSpPr>
          <p:cNvPr id="419" name="Google Shape;419;p25"/>
          <p:cNvSpPr/>
          <p:nvPr/>
        </p:nvSpPr>
        <p:spPr>
          <a:xfrm>
            <a:off x="411480" y="1200150"/>
            <a:ext cx="219456" cy="219456"/>
          </a:xfrm>
          <a:prstGeom prst="ellipse">
            <a:avLst/>
          </a:prstGeom>
          <a:solidFill>
            <a:srgbClr val="0C1E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0" name="Google Shape;420;p25"/>
          <p:cNvSpPr/>
          <p:nvPr/>
        </p:nvSpPr>
        <p:spPr>
          <a:xfrm>
            <a:off x="411480" y="1200150"/>
            <a:ext cx="219456"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AB219"/>
              </a:buClr>
              <a:buSzPts val="1400"/>
              <a:buFont typeface="Calibri"/>
              <a:buNone/>
            </a:pPr>
            <a:r>
              <a:rPr b="1" i="0" lang="en" sz="1400" u="none" cap="none" strike="noStrike">
                <a:solidFill>
                  <a:srgbClr val="FAB21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21" name="Google Shape;421;p25"/>
          <p:cNvSpPr/>
          <p:nvPr/>
        </p:nvSpPr>
        <p:spPr>
          <a:xfrm>
            <a:off x="754380" y="1165860"/>
            <a:ext cx="473202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D7E3F2"/>
              </a:buClr>
              <a:buSzPts val="900"/>
              <a:buFont typeface="Calibri"/>
              <a:buNone/>
            </a:pPr>
            <a:r>
              <a:rPr b="0" i="0" lang="en" sz="900" u="none" cap="none" strike="noStrike">
                <a:solidFill>
                  <a:srgbClr val="D7E3F2"/>
                </a:solidFill>
                <a:latin typeface="Calibri"/>
                <a:ea typeface="Calibri"/>
                <a:cs typeface="Calibri"/>
                <a:sym typeface="Calibri"/>
              </a:rPr>
              <a:t>Small sample: 100 patients, 275 admissions  directional, not statistically robust</a:t>
            </a:r>
            <a:endParaRPr b="0" i="0" sz="900" u="none" cap="none" strike="noStrike">
              <a:solidFill>
                <a:schemeClr val="dk1"/>
              </a:solidFill>
              <a:latin typeface="Calibri"/>
              <a:ea typeface="Calibri"/>
              <a:cs typeface="Calibri"/>
              <a:sym typeface="Calibri"/>
            </a:endParaRPr>
          </a:p>
        </p:txBody>
      </p:sp>
      <p:sp>
        <p:nvSpPr>
          <p:cNvPr id="422" name="Google Shape;422;p25"/>
          <p:cNvSpPr/>
          <p:nvPr/>
        </p:nvSpPr>
        <p:spPr>
          <a:xfrm>
            <a:off x="411480" y="1666494"/>
            <a:ext cx="219456" cy="219456"/>
          </a:xfrm>
          <a:prstGeom prst="ellipse">
            <a:avLst/>
          </a:prstGeom>
          <a:solidFill>
            <a:srgbClr val="0C1E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3" name="Google Shape;423;p25"/>
          <p:cNvSpPr/>
          <p:nvPr/>
        </p:nvSpPr>
        <p:spPr>
          <a:xfrm>
            <a:off x="411480" y="1666494"/>
            <a:ext cx="219456"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AB219"/>
              </a:buClr>
              <a:buSzPts val="1400"/>
              <a:buFont typeface="Calibri"/>
              <a:buNone/>
            </a:pPr>
            <a:r>
              <a:rPr b="1" i="0" lang="en" sz="1400" u="none" cap="none" strike="noStrike">
                <a:solidFill>
                  <a:srgbClr val="FAB21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24" name="Google Shape;424;p25"/>
          <p:cNvSpPr/>
          <p:nvPr/>
        </p:nvSpPr>
        <p:spPr>
          <a:xfrm>
            <a:off x="754380" y="1632204"/>
            <a:ext cx="473202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D7E3F2"/>
              </a:buClr>
              <a:buSzPts val="900"/>
              <a:buFont typeface="Calibri"/>
              <a:buNone/>
            </a:pPr>
            <a:r>
              <a:rPr b="0" i="0" lang="en" sz="900" u="none" cap="none" strike="noStrike">
                <a:solidFill>
                  <a:srgbClr val="D7E3F2"/>
                </a:solidFill>
                <a:latin typeface="Calibri"/>
                <a:ea typeface="Calibri"/>
                <a:cs typeface="Calibri"/>
                <a:sym typeface="Calibri"/>
              </a:rPr>
              <a:t>OpenFDA adverse events are not linked to these specific MIMIC patients</a:t>
            </a:r>
            <a:endParaRPr b="0" i="0" sz="900" u="none" cap="none" strike="noStrike">
              <a:solidFill>
                <a:schemeClr val="dk1"/>
              </a:solidFill>
              <a:latin typeface="Calibri"/>
              <a:ea typeface="Calibri"/>
              <a:cs typeface="Calibri"/>
              <a:sym typeface="Calibri"/>
            </a:endParaRPr>
          </a:p>
        </p:txBody>
      </p:sp>
      <p:sp>
        <p:nvSpPr>
          <p:cNvPr id="425" name="Google Shape;425;p25"/>
          <p:cNvSpPr/>
          <p:nvPr/>
        </p:nvSpPr>
        <p:spPr>
          <a:xfrm>
            <a:off x="411480" y="2132838"/>
            <a:ext cx="219456" cy="219456"/>
          </a:xfrm>
          <a:prstGeom prst="ellipse">
            <a:avLst/>
          </a:prstGeom>
          <a:solidFill>
            <a:srgbClr val="0C1E33"/>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26" name="Google Shape;426;p25"/>
          <p:cNvSpPr/>
          <p:nvPr/>
        </p:nvSpPr>
        <p:spPr>
          <a:xfrm>
            <a:off x="411480" y="2132838"/>
            <a:ext cx="219456"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AB219"/>
              </a:buClr>
              <a:buSzPts val="1400"/>
              <a:buFont typeface="Calibri"/>
              <a:buNone/>
            </a:pPr>
            <a:r>
              <a:rPr b="1" i="0" lang="en" sz="1400" u="none" cap="none" strike="noStrike">
                <a:solidFill>
                  <a:srgbClr val="FAB219"/>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27" name="Google Shape;427;p25"/>
          <p:cNvSpPr/>
          <p:nvPr/>
        </p:nvSpPr>
        <p:spPr>
          <a:xfrm>
            <a:off x="754380" y="2098548"/>
            <a:ext cx="473202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D7E3F2"/>
              </a:buClr>
              <a:buSzPts val="900"/>
              <a:buFont typeface="Calibri"/>
              <a:buNone/>
            </a:pPr>
            <a:r>
              <a:rPr b="0" i="0" lang="en" sz="900" u="none" cap="none" strike="noStrike">
                <a:solidFill>
                  <a:srgbClr val="D7E3F2"/>
                </a:solidFill>
                <a:latin typeface="Calibri"/>
                <a:ea typeface="Calibri"/>
                <a:cs typeface="Calibri"/>
                <a:sym typeface="Calibri"/>
              </a:rPr>
              <a:t>Model is a leakage-free proof-of-concept (F1 = 0.38), not a clinical decision tool</a:t>
            </a:r>
            <a:endParaRPr b="0" i="0" sz="900" u="none" cap="none" strike="noStrike">
              <a:solidFill>
                <a:schemeClr val="dk1"/>
              </a:solidFill>
              <a:latin typeface="Calibri"/>
              <a:ea typeface="Calibri"/>
              <a:cs typeface="Calibri"/>
              <a:sym typeface="Calibri"/>
            </a:endParaRPr>
          </a:p>
        </p:txBody>
      </p:sp>
      <p:sp>
        <p:nvSpPr>
          <p:cNvPr id="428" name="Google Shape;428;p25"/>
          <p:cNvSpPr/>
          <p:nvPr/>
        </p:nvSpPr>
        <p:spPr>
          <a:xfrm>
            <a:off x="411480" y="2846070"/>
            <a:ext cx="4114800" cy="24003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7FA8DE"/>
              </a:buClr>
              <a:buSzPts val="1000"/>
              <a:buFont typeface="Calibri"/>
              <a:buNone/>
            </a:pPr>
            <a:r>
              <a:rPr b="1" i="0" lang="en" sz="1000" u="none" cap="none" strike="noStrike">
                <a:solidFill>
                  <a:srgbClr val="7FA8DE"/>
                </a:solidFill>
                <a:latin typeface="Calibri"/>
                <a:ea typeface="Calibri"/>
                <a:cs typeface="Calibri"/>
                <a:sym typeface="Calibri"/>
              </a:rPr>
              <a:t>RECOMMENDED NEXT STEPS</a:t>
            </a:r>
            <a:endParaRPr b="0" i="0" sz="1000" u="none" cap="none" strike="noStrike">
              <a:solidFill>
                <a:schemeClr val="dk1"/>
              </a:solidFill>
              <a:latin typeface="Calibri"/>
              <a:ea typeface="Calibri"/>
              <a:cs typeface="Calibri"/>
              <a:sym typeface="Calibri"/>
            </a:endParaRPr>
          </a:p>
        </p:txBody>
      </p:sp>
      <p:sp>
        <p:nvSpPr>
          <p:cNvPr id="429" name="Google Shape;429;p25"/>
          <p:cNvSpPr/>
          <p:nvPr/>
        </p:nvSpPr>
        <p:spPr>
          <a:xfrm>
            <a:off x="411480" y="3120390"/>
            <a:ext cx="219456" cy="21945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0" name="Google Shape;430;p25"/>
          <p:cNvSpPr/>
          <p:nvPr/>
        </p:nvSpPr>
        <p:spPr>
          <a:xfrm>
            <a:off x="411480" y="3120390"/>
            <a:ext cx="219456"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31" name="Google Shape;431;p25"/>
          <p:cNvSpPr/>
          <p:nvPr/>
        </p:nvSpPr>
        <p:spPr>
          <a:xfrm>
            <a:off x="754380" y="3086100"/>
            <a:ext cx="473202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D7E3F2"/>
              </a:buClr>
              <a:buSzPts val="900"/>
              <a:buFont typeface="Calibri"/>
              <a:buNone/>
            </a:pPr>
            <a:r>
              <a:rPr b="0" i="0" lang="en" sz="900" u="none" cap="none" strike="noStrike">
                <a:solidFill>
                  <a:srgbClr val="D7E3F2"/>
                </a:solidFill>
                <a:latin typeface="Calibri"/>
                <a:ea typeface="Calibri"/>
                <a:cs typeface="Calibri"/>
                <a:sym typeface="Calibri"/>
              </a:rPr>
              <a:t>Validate on a larger, prospective patient cohort</a:t>
            </a:r>
            <a:endParaRPr b="0" i="0" sz="900" u="none" cap="none" strike="noStrike">
              <a:solidFill>
                <a:schemeClr val="dk1"/>
              </a:solidFill>
              <a:latin typeface="Calibri"/>
              <a:ea typeface="Calibri"/>
              <a:cs typeface="Calibri"/>
              <a:sym typeface="Calibri"/>
            </a:endParaRPr>
          </a:p>
        </p:txBody>
      </p:sp>
      <p:sp>
        <p:nvSpPr>
          <p:cNvPr id="432" name="Google Shape;432;p25"/>
          <p:cNvSpPr/>
          <p:nvPr/>
        </p:nvSpPr>
        <p:spPr>
          <a:xfrm>
            <a:off x="411480" y="3586734"/>
            <a:ext cx="219456" cy="21945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3" name="Google Shape;433;p25"/>
          <p:cNvSpPr/>
          <p:nvPr/>
        </p:nvSpPr>
        <p:spPr>
          <a:xfrm>
            <a:off x="411480" y="3586734"/>
            <a:ext cx="219456"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34" name="Google Shape;434;p25"/>
          <p:cNvSpPr/>
          <p:nvPr/>
        </p:nvSpPr>
        <p:spPr>
          <a:xfrm>
            <a:off x="754380" y="3552444"/>
            <a:ext cx="473202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D7E3F2"/>
              </a:buClr>
              <a:buSzPts val="900"/>
              <a:buFont typeface="Calibri"/>
              <a:buNone/>
            </a:pPr>
            <a:r>
              <a:rPr b="0" i="0" lang="en" sz="900" u="none" cap="none" strike="noStrike">
                <a:solidFill>
                  <a:srgbClr val="D7E3F2"/>
                </a:solidFill>
                <a:latin typeface="Calibri"/>
                <a:ea typeface="Calibri"/>
                <a:cs typeface="Calibri"/>
                <a:sym typeface="Calibri"/>
              </a:rPr>
              <a:t>Link medication history directly to individual patient records</a:t>
            </a:r>
            <a:endParaRPr b="0" i="0" sz="900" u="none" cap="none" strike="noStrike">
              <a:solidFill>
                <a:schemeClr val="dk1"/>
              </a:solidFill>
              <a:latin typeface="Calibri"/>
              <a:ea typeface="Calibri"/>
              <a:cs typeface="Calibri"/>
              <a:sym typeface="Calibri"/>
            </a:endParaRPr>
          </a:p>
        </p:txBody>
      </p:sp>
      <p:sp>
        <p:nvSpPr>
          <p:cNvPr id="435" name="Google Shape;435;p25"/>
          <p:cNvSpPr/>
          <p:nvPr/>
        </p:nvSpPr>
        <p:spPr>
          <a:xfrm>
            <a:off x="411480" y="4053078"/>
            <a:ext cx="219456" cy="219456"/>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6" name="Google Shape;436;p25"/>
          <p:cNvSpPr/>
          <p:nvPr/>
        </p:nvSpPr>
        <p:spPr>
          <a:xfrm>
            <a:off x="411480" y="4053078"/>
            <a:ext cx="219456" cy="219456"/>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1400"/>
              <a:buFont typeface="Calibri"/>
              <a:buNone/>
            </a:pPr>
            <a:r>
              <a:rPr b="1" i="0" lang="en" sz="1400" u="none" cap="none" strike="noStrike">
                <a:solidFill>
                  <a:srgbClr val="FFFFFF"/>
                </a:solidFill>
                <a:latin typeface="Calibri"/>
                <a:ea typeface="Calibri"/>
                <a:cs typeface="Calibri"/>
                <a:sym typeface="Calibri"/>
              </a:rPr>
              <a:t>+</a:t>
            </a:r>
            <a:endParaRPr b="0" i="0" sz="1400" u="none" cap="none" strike="noStrike">
              <a:solidFill>
                <a:schemeClr val="dk1"/>
              </a:solidFill>
              <a:latin typeface="Calibri"/>
              <a:ea typeface="Calibri"/>
              <a:cs typeface="Calibri"/>
              <a:sym typeface="Calibri"/>
            </a:endParaRPr>
          </a:p>
        </p:txBody>
      </p:sp>
      <p:sp>
        <p:nvSpPr>
          <p:cNvPr id="437" name="Google Shape;437;p25"/>
          <p:cNvSpPr/>
          <p:nvPr/>
        </p:nvSpPr>
        <p:spPr>
          <a:xfrm>
            <a:off x="754380" y="4018788"/>
            <a:ext cx="4732020" cy="377190"/>
          </a:xfrm>
          <a:prstGeom prst="rect">
            <a:avLst/>
          </a:prstGeom>
          <a:noFill/>
          <a:ln>
            <a:noFill/>
          </a:ln>
        </p:spPr>
        <p:txBody>
          <a:bodyPr anchorCtr="0" anchor="ctr" bIns="34275" lIns="68575" spcFirstLastPara="1" rIns="68575" wrap="square" tIns="34275">
            <a:noAutofit/>
          </a:bodyPr>
          <a:lstStyle/>
          <a:p>
            <a:pPr indent="0" lvl="0" marL="0" marR="0" rtl="0" algn="l">
              <a:lnSpc>
                <a:spcPct val="115000"/>
              </a:lnSpc>
              <a:spcBef>
                <a:spcPts val="0"/>
              </a:spcBef>
              <a:spcAft>
                <a:spcPts val="0"/>
              </a:spcAft>
              <a:buClr>
                <a:srgbClr val="D7E3F2"/>
              </a:buClr>
              <a:buSzPts val="900"/>
              <a:buFont typeface="Calibri"/>
              <a:buNone/>
            </a:pPr>
            <a:r>
              <a:rPr b="0" i="0" lang="en" sz="900" u="none" cap="none" strike="noStrike">
                <a:solidFill>
                  <a:srgbClr val="D7E3F2"/>
                </a:solidFill>
                <a:latin typeface="Calibri"/>
                <a:ea typeface="Calibri"/>
                <a:cs typeface="Calibri"/>
                <a:sym typeface="Calibri"/>
              </a:rPr>
              <a:t>Track model performance over time as new admissions come in</a:t>
            </a:r>
            <a:endParaRPr b="0" i="0" sz="900" u="none" cap="none" strike="noStrike">
              <a:solidFill>
                <a:schemeClr val="dk1"/>
              </a:solidFill>
              <a:latin typeface="Calibri"/>
              <a:ea typeface="Calibri"/>
              <a:cs typeface="Calibri"/>
              <a:sym typeface="Calibri"/>
            </a:endParaRPr>
          </a:p>
        </p:txBody>
      </p:sp>
      <p:sp>
        <p:nvSpPr>
          <p:cNvPr id="438" name="Google Shape;438;p25"/>
          <p:cNvSpPr/>
          <p:nvPr/>
        </p:nvSpPr>
        <p:spPr>
          <a:xfrm>
            <a:off x="6583680" y="1714500"/>
            <a:ext cx="685800" cy="685800"/>
          </a:xfrm>
          <a:prstGeom prst="ellipse">
            <a:avLst/>
          </a:prstGeom>
          <a:solidFill>
            <a:srgbClr val="2A78D6"/>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39" name="Google Shape;439;p25"/>
          <p:cNvSpPr/>
          <p:nvPr/>
        </p:nvSpPr>
        <p:spPr>
          <a:xfrm>
            <a:off x="6583680" y="1714500"/>
            <a:ext cx="685800" cy="6858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900"/>
              <a:buFont typeface="Calibri"/>
              <a:buNone/>
            </a:pPr>
            <a:r>
              <a:rPr b="1" i="0" lang="en" sz="2900" u="none" cap="none" strike="noStrike">
                <a:solidFill>
                  <a:srgbClr val="FFFFFF"/>
                </a:solidFill>
                <a:latin typeface="Calibri"/>
                <a:ea typeface="Calibri"/>
                <a:cs typeface="Calibri"/>
                <a:sym typeface="Calibri"/>
              </a:rPr>
              <a:t>🏥</a:t>
            </a:r>
            <a:endParaRPr b="0" i="0" sz="2900" u="none" cap="none" strike="noStrike">
              <a:solidFill>
                <a:schemeClr val="dk1"/>
              </a:solidFill>
              <a:latin typeface="Calibri"/>
              <a:ea typeface="Calibri"/>
              <a:cs typeface="Calibri"/>
              <a:sym typeface="Calibri"/>
            </a:endParaRPr>
          </a:p>
        </p:txBody>
      </p:sp>
      <p:sp>
        <p:nvSpPr>
          <p:cNvPr id="440" name="Google Shape;440;p25"/>
          <p:cNvSpPr/>
          <p:nvPr/>
        </p:nvSpPr>
        <p:spPr>
          <a:xfrm>
            <a:off x="6103620" y="2571750"/>
            <a:ext cx="2468880" cy="44577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FFFFFF"/>
              </a:buClr>
              <a:buSzPts val="2300"/>
              <a:buFont typeface="Cambria"/>
              <a:buNone/>
            </a:pPr>
            <a:r>
              <a:rPr b="1" i="0" lang="en" sz="2300" u="none" cap="none" strike="noStrike">
                <a:solidFill>
                  <a:srgbClr val="FFFFFF"/>
                </a:solidFill>
                <a:latin typeface="Cambria"/>
                <a:ea typeface="Cambria"/>
                <a:cs typeface="Cambria"/>
                <a:sym typeface="Cambria"/>
              </a:rPr>
              <a:t>Thank you</a:t>
            </a:r>
            <a:endParaRPr b="0" i="0" sz="2300" u="none" cap="none" strike="noStrike">
              <a:solidFill>
                <a:schemeClr val="dk1"/>
              </a:solidFill>
              <a:latin typeface="Calibri"/>
              <a:ea typeface="Calibri"/>
              <a:cs typeface="Calibri"/>
              <a:sym typeface="Calibri"/>
            </a:endParaRPr>
          </a:p>
        </p:txBody>
      </p:sp>
      <p:sp>
        <p:nvSpPr>
          <p:cNvPr id="441" name="Google Shape;441;p25"/>
          <p:cNvSpPr/>
          <p:nvPr/>
        </p:nvSpPr>
        <p:spPr>
          <a:xfrm>
            <a:off x="6103620" y="3017520"/>
            <a:ext cx="2468880" cy="27432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FB4D0"/>
              </a:buClr>
              <a:buSzPts val="1100"/>
              <a:buFont typeface="Calibri"/>
              <a:buNone/>
            </a:pPr>
            <a:r>
              <a:rPr b="0" i="1" lang="en" sz="1100" u="none" cap="none" strike="noStrike">
                <a:solidFill>
                  <a:srgbClr val="9FB4D0"/>
                </a:solidFill>
                <a:latin typeface="Calibri"/>
                <a:ea typeface="Calibri"/>
                <a:cs typeface="Calibri"/>
                <a:sym typeface="Calibri"/>
              </a:rPr>
              <a:t>Questions welcome</a:t>
            </a:r>
            <a:endParaRPr b="0" i="0" sz="1100" u="none" cap="none" strike="noStrike">
              <a:solidFill>
                <a:schemeClr val="dk1"/>
              </a:solidFill>
              <a:latin typeface="Calibri"/>
              <a:ea typeface="Calibri"/>
              <a:cs typeface="Calibri"/>
              <a:sym typeface="Calibri"/>
            </a:endParaRPr>
          </a:p>
        </p:txBody>
      </p:sp>
      <p:cxnSp>
        <p:nvCxnSpPr>
          <p:cNvPr id="442" name="Google Shape;442;p25"/>
          <p:cNvCxnSpPr/>
          <p:nvPr/>
        </p:nvCxnSpPr>
        <p:spPr>
          <a:xfrm>
            <a:off x="6789420" y="3463290"/>
            <a:ext cx="1097280" cy="0"/>
          </a:xfrm>
          <a:prstGeom prst="straightConnector1">
            <a:avLst/>
          </a:prstGeom>
          <a:noFill/>
          <a:ln cap="flat" cmpd="sng" w="25400">
            <a:solidFill>
              <a:srgbClr val="2A78D6"/>
            </a:solidFill>
            <a:prstDash val="solid"/>
            <a:round/>
            <a:headEnd len="sm" w="sm" type="none"/>
            <a:tailEnd len="sm" w="sm" type="none"/>
          </a:ln>
        </p:spPr>
      </p:cxnSp>
      <p:sp>
        <p:nvSpPr>
          <p:cNvPr id="443" name="Google Shape;443;p25"/>
          <p:cNvSpPr/>
          <p:nvPr/>
        </p:nvSpPr>
        <p:spPr>
          <a:xfrm>
            <a:off x="6103620" y="3600450"/>
            <a:ext cx="2468880" cy="411480"/>
          </a:xfrm>
          <a:prstGeom prst="rect">
            <a:avLst/>
          </a:prstGeom>
          <a:noFill/>
          <a:ln>
            <a:noFill/>
          </a:ln>
        </p:spPr>
        <p:txBody>
          <a:bodyPr anchorCtr="0" anchor="ctr" bIns="34275" lIns="68575" spcFirstLastPara="1" rIns="68575" wrap="square" tIns="34275">
            <a:noAutofit/>
          </a:bodyPr>
          <a:lstStyle/>
          <a:p>
            <a:pPr indent="0" lvl="0" marL="0" marR="0" rtl="0" algn="ctr">
              <a:lnSpc>
                <a:spcPct val="130000"/>
              </a:lnSpc>
              <a:spcBef>
                <a:spcPts val="0"/>
              </a:spcBef>
              <a:spcAft>
                <a:spcPts val="0"/>
              </a:spcAft>
              <a:buClr>
                <a:srgbClr val="C9D9EE"/>
              </a:buClr>
              <a:buSzPts val="900"/>
              <a:buFont typeface="Calibri"/>
              <a:buNone/>
            </a:pPr>
            <a:r>
              <a:rPr b="0" i="0" lang="en" sz="900" u="none" cap="none" strike="noStrike">
                <a:solidFill>
                  <a:srgbClr val="C9D9EE"/>
                </a:solidFill>
                <a:latin typeface="Calibri"/>
                <a:ea typeface="Calibri"/>
                <a:cs typeface="Calibri"/>
                <a:sym typeface="Calibri"/>
              </a:rPr>
              <a:t>Nadiya</a:t>
            </a:r>
            <a:endParaRPr b="0" i="0" sz="900" u="none" cap="none" strike="noStrike">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C9D9EE"/>
              </a:buClr>
              <a:buSzPts val="900"/>
              <a:buFont typeface="Calibri"/>
              <a:buNone/>
            </a:pPr>
            <a:r>
              <a:rPr b="0" i="0" lang="en" sz="900" u="none" cap="none" strike="noStrike">
                <a:solidFill>
                  <a:srgbClr val="C9D9EE"/>
                </a:solidFill>
                <a:latin typeface="Calibri"/>
                <a:ea typeface="Calibri"/>
                <a:cs typeface="Calibri"/>
                <a:sym typeface="Calibri"/>
              </a:rPr>
              <a:t>Ironhack Data Analytics Bootcamp</a:t>
            </a:r>
            <a:endParaRPr b="0" i="0" sz="900" u="none" cap="none" strike="noStrike">
              <a:solidFill>
                <a:schemeClr val="dk1"/>
              </a:solidFill>
              <a:latin typeface="Calibri"/>
              <a:ea typeface="Calibri"/>
              <a:cs typeface="Calibri"/>
              <a:sym typeface="Calibri"/>
            </a:endParaRPr>
          </a:p>
        </p:txBody>
      </p:sp>
      <p:pic>
        <p:nvPicPr>
          <p:cNvPr descr="qr/qr_linkedin.png" id="444" name="Google Shape;444;p25"/>
          <p:cNvPicPr preferRelativeResize="0"/>
          <p:nvPr/>
        </p:nvPicPr>
        <p:blipFill rotWithShape="1">
          <a:blip r:embed="rId3">
            <a:alphaModFix/>
          </a:blip>
          <a:srcRect b="0" l="0" r="0" t="0"/>
          <a:stretch/>
        </p:blipFill>
        <p:spPr>
          <a:xfrm>
            <a:off x="7050024" y="4011930"/>
            <a:ext cx="548640" cy="548640"/>
          </a:xfrm>
          <a:prstGeom prst="rect">
            <a:avLst/>
          </a:prstGeom>
          <a:noFill/>
          <a:ln>
            <a:noFill/>
          </a:ln>
        </p:spPr>
      </p:pic>
      <p:sp>
        <p:nvSpPr>
          <p:cNvPr id="445" name="Google Shape;445;p25"/>
          <p:cNvSpPr/>
          <p:nvPr/>
        </p:nvSpPr>
        <p:spPr>
          <a:xfrm>
            <a:off x="6103620" y="4581144"/>
            <a:ext cx="2468880" cy="192024"/>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Clr>
                <a:srgbClr val="9FB4D0"/>
              </a:buClr>
              <a:buSzPts val="800"/>
              <a:buFont typeface="Calibri"/>
              <a:buNone/>
            </a:pPr>
            <a:r>
              <a:rPr b="1" i="0" lang="en" sz="800" u="none" cap="none" strike="noStrike">
                <a:solidFill>
                  <a:srgbClr val="9FB4D0"/>
                </a:solidFill>
                <a:latin typeface="Calibri"/>
                <a:ea typeface="Calibri"/>
                <a:cs typeface="Calibri"/>
                <a:sym typeface="Calibri"/>
              </a:rPr>
              <a:t>Connect on LinkedIn</a:t>
            </a:r>
            <a:endParaRPr b="0" i="0" sz="800" u="none" cap="none" strike="noStrike">
              <a:solidFill>
                <a:schemeClr val="dk1"/>
              </a:solidFill>
              <a:latin typeface="Calibri"/>
              <a:ea typeface="Calibri"/>
              <a:cs typeface="Calibri"/>
              <a:sym typeface="Calibri"/>
            </a:endParaRPr>
          </a:p>
        </p:txBody>
      </p:sp>
      <p:sp>
        <p:nvSpPr>
          <p:cNvPr id="446" name="Google Shape;446;p25"/>
          <p:cNvSpPr/>
          <p:nvPr/>
        </p:nvSpPr>
        <p:spPr>
          <a:xfrm>
            <a:off x="342900" y="4869180"/>
            <a:ext cx="4114800" cy="205740"/>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Clr>
                <a:srgbClr val="8FA6C2"/>
              </a:buClr>
              <a:buSzPts val="700"/>
              <a:buFont typeface="Calibri"/>
              <a:buNone/>
            </a:pPr>
            <a:r>
              <a:rPr b="0" i="0" lang="en" sz="700" u="none" cap="none" strike="noStrike">
                <a:solidFill>
                  <a:srgbClr val="8FA6C2"/>
                </a:solidFill>
                <a:latin typeface="Calibri"/>
                <a:ea typeface="Calibri"/>
                <a:cs typeface="Calibri"/>
                <a:sym typeface="Calibri"/>
              </a:rPr>
              <a:t>Healthcare Risk Intelligence Platform</a:t>
            </a:r>
            <a:endParaRPr b="0" i="0" sz="700" u="none" cap="none" strike="noStrike">
              <a:solidFill>
                <a:schemeClr val="dk1"/>
              </a:solidFill>
              <a:latin typeface="Calibri"/>
              <a:ea typeface="Calibri"/>
              <a:cs typeface="Calibri"/>
              <a:sym typeface="Calibri"/>
            </a:endParaRPr>
          </a:p>
        </p:txBody>
      </p:sp>
      <p:sp>
        <p:nvSpPr>
          <p:cNvPr id="447" name="Google Shape;447;p25"/>
          <p:cNvSpPr/>
          <p:nvPr/>
        </p:nvSpPr>
        <p:spPr>
          <a:xfrm>
            <a:off x="8457971" y="4869180"/>
            <a:ext cx="342900" cy="20574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rgbClr val="8FA6C2"/>
              </a:buClr>
              <a:buSzPts val="700"/>
              <a:buFont typeface="Calibri"/>
              <a:buNone/>
            </a:pPr>
            <a:r>
              <a:rPr b="0" i="0" lang="en" sz="700" u="none" cap="none" strike="noStrike">
                <a:solidFill>
                  <a:srgbClr val="8FA6C2"/>
                </a:solidFill>
                <a:latin typeface="Calibri"/>
                <a:ea typeface="Calibri"/>
                <a:cs typeface="Calibri"/>
                <a:sym typeface="Calibri"/>
              </a:rPr>
              <a:t>10</a:t>
            </a:r>
            <a:endParaRPr b="0" i="0" sz="7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